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517" r:id="rId5"/>
    <p:sldId id="386" r:id="rId6"/>
    <p:sldId id="546" r:id="rId7"/>
    <p:sldId id="518" r:id="rId8"/>
    <p:sldId id="519" r:id="rId9"/>
    <p:sldId id="520" r:id="rId10"/>
    <p:sldId id="547" r:id="rId11"/>
    <p:sldId id="521" r:id="rId12"/>
    <p:sldId id="522" r:id="rId13"/>
    <p:sldId id="523" r:id="rId14"/>
    <p:sldId id="527" r:id="rId15"/>
    <p:sldId id="524" r:id="rId16"/>
    <p:sldId id="528" r:id="rId17"/>
    <p:sldId id="525" r:id="rId18"/>
    <p:sldId id="529" r:id="rId19"/>
    <p:sldId id="526" r:id="rId20"/>
    <p:sldId id="530" r:id="rId21"/>
    <p:sldId id="531" r:id="rId22"/>
    <p:sldId id="548" r:id="rId23"/>
    <p:sldId id="549" r:id="rId24"/>
    <p:sldId id="550" r:id="rId25"/>
  </p:sldIdLst>
  <p:sldSz cx="12192000" cy="6858000"/>
  <p:notesSz cx="7315200" cy="96012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riana Diaz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CC99FF"/>
    <a:srgbClr val="FFFF99"/>
    <a:srgbClr val="FF99FF"/>
    <a:srgbClr val="006666"/>
    <a:srgbClr val="FF66FF"/>
    <a:srgbClr val="00FFFF"/>
    <a:srgbClr val="141C35"/>
    <a:srgbClr val="14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274508-CC2E-4832-BF13-8855BF0FF0C1}" v="113" dt="2026-05-25T13:50:55.9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2" autoAdjust="0"/>
    <p:restoredTop sz="95331" autoAdjust="0"/>
  </p:normalViewPr>
  <p:slideViewPr>
    <p:cSldViewPr snapToGrid="0" snapToObjects="1">
      <p:cViewPr varScale="1">
        <p:scale>
          <a:sx n="111" d="100"/>
          <a:sy n="111" d="100"/>
        </p:scale>
        <p:origin x="184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78E539C-DDF3-AC46-8B9D-2E762AE448C0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2F5C0A5-FBF0-BA4F-A7ED-D301001CE6F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8954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5703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397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1261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844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7663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93107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06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391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4764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9922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62640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280E0-7F35-E648-A499-767250BB567F}" type="datetimeFigureOut">
              <a:rPr lang="es-ES_tradnl" smtClean="0"/>
              <a:t>25/05/2026</a:t>
            </a:fld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70117-86FD-5C4E-9449-35DCC7DD46F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256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ángulo 2"/>
            <p:cNvSpPr/>
            <p:nvPr/>
          </p:nvSpPr>
          <p:spPr>
            <a:xfrm>
              <a:off x="4005207" y="5648632"/>
              <a:ext cx="4460367" cy="110612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sp>
        <p:nvSpPr>
          <p:cNvPr id="2" name="Rectángulo 1"/>
          <p:cNvSpPr/>
          <p:nvPr/>
        </p:nvSpPr>
        <p:spPr>
          <a:xfrm>
            <a:off x="0" y="303956"/>
            <a:ext cx="6827303" cy="17151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/>
          <p:cNvSpPr/>
          <p:nvPr/>
        </p:nvSpPr>
        <p:spPr>
          <a:xfrm>
            <a:off x="1" y="5229081"/>
            <a:ext cx="4005206" cy="1636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Subtítulo 2"/>
          <p:cNvSpPr>
            <a:spLocks noGrp="1"/>
          </p:cNvSpPr>
          <p:nvPr>
            <p:ph type="subTitle" idx="1"/>
          </p:nvPr>
        </p:nvSpPr>
        <p:spPr>
          <a:xfrm>
            <a:off x="3539067" y="1994560"/>
            <a:ext cx="8263467" cy="2844307"/>
          </a:xfrm>
        </p:spPr>
        <p:txBody>
          <a:bodyPr>
            <a:noAutofit/>
          </a:bodyPr>
          <a:lstStyle/>
          <a:p>
            <a:endParaRPr lang="es-ES_tradnl" sz="44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es-CO" sz="4400" b="1" dirty="0">
                <a:solidFill>
                  <a:schemeClr val="bg1"/>
                </a:solidFill>
                <a:latin typeface="Arial" charset="0"/>
                <a:cs typeface="Arial" charset="0"/>
              </a:rPr>
              <a:t>Clasificación de Reseñas de Hoteles con RNN</a:t>
            </a:r>
          </a:p>
          <a:p>
            <a:br>
              <a:rPr lang="es-CO" sz="1000" dirty="0"/>
            </a:br>
            <a:endParaRPr lang="es-ES_tradnl" sz="1000" b="1" dirty="0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  <a:p>
            <a:r>
              <a:rPr lang="es-CO" sz="2800" b="1" dirty="0">
                <a:solidFill>
                  <a:srgbClr val="FFC000"/>
                </a:solidFill>
                <a:latin typeface="Arial" charset="0"/>
                <a:cs typeface="Arial" charset="0"/>
              </a:rPr>
              <a:t>Felipe Reyes · </a:t>
            </a:r>
            <a:r>
              <a:rPr lang="es-CO" sz="2800" b="1" dirty="0" err="1">
                <a:solidFill>
                  <a:srgbClr val="FFC000"/>
                </a:solidFill>
                <a:latin typeface="Arial" charset="0"/>
                <a:cs typeface="Arial" charset="0"/>
              </a:rPr>
              <a:t>Yibby</a:t>
            </a:r>
            <a:r>
              <a:rPr lang="es-CO" sz="2800" b="1" dirty="0">
                <a:solidFill>
                  <a:srgbClr val="FFC000"/>
                </a:solidFill>
                <a:latin typeface="Arial" charset="0"/>
                <a:cs typeface="Arial" charset="0"/>
              </a:rPr>
              <a:t> González · Daniel Ruiz · Sebastián Ruiz</a:t>
            </a:r>
          </a:p>
          <a:p>
            <a:br>
              <a:rPr lang="es-CO" sz="2800" dirty="0"/>
            </a:br>
            <a:endParaRPr lang="es-ES_tradnl" sz="2800" b="1" dirty="0">
              <a:solidFill>
                <a:srgbClr val="FFC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37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/>
          <p:cNvSpPr/>
          <p:nvPr/>
        </p:nvSpPr>
        <p:spPr>
          <a:xfrm>
            <a:off x="1341913" y="583285"/>
            <a:ext cx="71608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Agenda</a:t>
            </a:r>
            <a:br>
              <a:rPr lang="es-CO" sz="3200" dirty="0"/>
            </a:b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94651" y="2820405"/>
            <a:ext cx="5397296" cy="2433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 err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 y Problema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Preprocesamiento e Infraestructura Compartida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Modelos Clásicos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Modelo Nuevo/Combinado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Resultados, Análisis y Conclusiones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Investigación</a:t>
            </a:r>
          </a:p>
          <a:p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BACKPACKING COLOMBIA (Cartagena) - opiniones y comentarios - hostal -  Tripadvisor">
            <a:extLst>
              <a:ext uri="{FF2B5EF4-FFF2-40B4-BE49-F238E27FC236}">
                <a16:creationId xmlns:a16="http://schemas.microsoft.com/office/drawing/2014/main" id="{AAD49D93-2116-116A-9DD3-C0E615393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947" y="1893594"/>
            <a:ext cx="523875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043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A34E-F075-A0FF-7025-EAA34202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2FC2708-A0F9-43BC-4736-B2F5B6B78A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914C404C-3963-D58A-E1B8-99496ABE49AF}"/>
              </a:ext>
            </a:extLst>
          </p:cNvPr>
          <p:cNvSpPr/>
          <p:nvPr/>
        </p:nvSpPr>
        <p:spPr>
          <a:xfrm>
            <a:off x="1341913" y="583285"/>
            <a:ext cx="71608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Objetivos</a:t>
            </a:r>
          </a:p>
          <a:p>
            <a:pPr algn="ctr"/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1FD13BD-CF74-A907-3A35-FBC9FA904467}"/>
              </a:ext>
            </a:extLst>
          </p:cNvPr>
          <p:cNvSpPr txBox="1"/>
          <p:nvPr/>
        </p:nvSpPr>
        <p:spPr>
          <a:xfrm>
            <a:off x="1431985" y="1762849"/>
            <a:ext cx="981709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spcBef>
                <a:spcPts val="1200"/>
              </a:spcBef>
            </a:pPr>
            <a:r>
              <a:rPr lang="es-CO" dirty="0">
                <a:solidFill>
                  <a:srgbClr val="FFC000"/>
                </a:solidFill>
                <a:latin typeface="Arial" charset="0"/>
                <a:cs typeface="Arial" charset="0"/>
              </a:rPr>
              <a:t>Objetivo General</a:t>
            </a:r>
          </a:p>
          <a:p>
            <a:r>
              <a:rPr lang="es-CO" dirty="0">
                <a:latin typeface="Arial" charset="0"/>
                <a:cs typeface="Arial" charset="0"/>
              </a:rPr>
              <a:t>Desarrollar y comparar modelos de Deep </a:t>
            </a:r>
            <a:r>
              <a:rPr lang="es-CO" dirty="0" err="1">
                <a:latin typeface="Arial" charset="0"/>
                <a:cs typeface="Arial" charset="0"/>
              </a:rPr>
              <a:t>Learning</a:t>
            </a:r>
            <a:r>
              <a:rPr lang="es-CO" dirty="0">
                <a:latin typeface="Arial" charset="0"/>
                <a:cs typeface="Arial" charset="0"/>
              </a:rPr>
              <a:t> (RNN) para clasificación de sentimiento en reseñas de hoteles en español, demostrando profundidad técnica y alcance experimental</a:t>
            </a:r>
          </a:p>
          <a:p>
            <a:endParaRPr lang="es-CO" dirty="0">
              <a:latin typeface="Arial" charset="0"/>
              <a:cs typeface="Arial" charset="0"/>
            </a:endParaRPr>
          </a:p>
          <a:p>
            <a:pPr>
              <a:spcBef>
                <a:spcPts val="1200"/>
              </a:spcBef>
            </a:pPr>
            <a:r>
              <a:rPr lang="es-CO" dirty="0">
                <a:solidFill>
                  <a:srgbClr val="FFC000"/>
                </a:solidFill>
                <a:latin typeface="Arial" charset="0"/>
                <a:cs typeface="Arial" charset="0"/>
              </a:rPr>
              <a:t>Objetivos </a:t>
            </a:r>
            <a:r>
              <a:rPr lang="es-CO" dirty="0" err="1">
                <a:solidFill>
                  <a:srgbClr val="FFC000"/>
                </a:solidFill>
                <a:latin typeface="Arial" charset="0"/>
                <a:cs typeface="Arial" charset="0"/>
              </a:rPr>
              <a:t>Especificos</a:t>
            </a:r>
            <a:endParaRPr lang="es-CO" dirty="0">
              <a:solidFill>
                <a:srgbClr val="FFC000"/>
              </a:solidFill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Realizar un EDA completo del </a:t>
            </a:r>
            <a:r>
              <a:rPr lang="es-CO" dirty="0" err="1">
                <a:latin typeface="Arial" charset="0"/>
                <a:cs typeface="Arial" charset="0"/>
              </a:rPr>
              <a:t>dataset</a:t>
            </a:r>
            <a:r>
              <a:rPr lang="es-CO" dirty="0">
                <a:latin typeface="Arial" charset="0"/>
                <a:cs typeface="Arial" charset="0"/>
              </a:rPr>
              <a:t>: dimensionalidad, distribución de clases, longitud de reseñas, vocabulario y detección de sesgos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Implementar 2 modelos clásicos de RNN (LSTM unidireccional y 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bidireccional) como líneas base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Diseñar un modelo nuevo/combinado (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+ Multi-Head </a:t>
            </a:r>
            <a:r>
              <a:rPr lang="es-CO" dirty="0" err="1">
                <a:latin typeface="Arial" charset="0"/>
                <a:cs typeface="Arial" charset="0"/>
              </a:rPr>
              <a:t>Attention</a:t>
            </a:r>
            <a:r>
              <a:rPr lang="es-CO" dirty="0">
                <a:latin typeface="Arial" charset="0"/>
                <a:cs typeface="Arial" charset="0"/>
              </a:rPr>
              <a:t>) que combine técnicas sin usar redes </a:t>
            </a:r>
            <a:r>
              <a:rPr lang="es-CO" dirty="0" err="1">
                <a:latin typeface="Arial" charset="0"/>
                <a:cs typeface="Arial" charset="0"/>
              </a:rPr>
              <a:t>pre-entrenadas</a:t>
            </a: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Evaluar el impacto del desbalance de clases y estrategias de </a:t>
            </a:r>
            <a:r>
              <a:rPr lang="es-CO" dirty="0" err="1">
                <a:latin typeface="Arial" charset="0"/>
                <a:cs typeface="Arial" charset="0"/>
              </a:rPr>
              <a:t>mitigacion</a:t>
            </a:r>
            <a:r>
              <a:rPr lang="es-CO" dirty="0">
                <a:latin typeface="Arial" charset="0"/>
                <a:cs typeface="Arial" charset="0"/>
              </a:rPr>
              <a:t> (</a:t>
            </a:r>
            <a:r>
              <a:rPr lang="es-CO" dirty="0" err="1">
                <a:latin typeface="Arial" charset="0"/>
                <a:cs typeface="Arial" charset="0"/>
              </a:rPr>
              <a:t>class</a:t>
            </a:r>
            <a:r>
              <a:rPr lang="es-CO" dirty="0">
                <a:latin typeface="Arial" charset="0"/>
                <a:cs typeface="Arial" charset="0"/>
              </a:rPr>
              <a:t> </a:t>
            </a:r>
            <a:r>
              <a:rPr lang="es-CO" dirty="0" err="1">
                <a:latin typeface="Arial" charset="0"/>
                <a:cs typeface="Arial" charset="0"/>
              </a:rPr>
              <a:t>weights</a:t>
            </a:r>
            <a:r>
              <a:rPr lang="es-CO" dirty="0">
                <a:latin typeface="Arial" charset="0"/>
                <a:cs typeface="Arial" charset="0"/>
              </a:rPr>
              <a:t>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Comparar los 3 modelos con métricas robustas: F1 macro, F1 por clase, </a:t>
            </a:r>
            <a:r>
              <a:rPr lang="es-CO" dirty="0" err="1">
                <a:latin typeface="Arial" charset="0"/>
                <a:cs typeface="Arial" charset="0"/>
              </a:rPr>
              <a:t>precision</a:t>
            </a:r>
            <a:r>
              <a:rPr lang="es-CO" dirty="0">
                <a:latin typeface="Arial" charset="0"/>
                <a:cs typeface="Arial" charset="0"/>
              </a:rPr>
              <a:t>, </a:t>
            </a:r>
            <a:r>
              <a:rPr lang="es-CO" dirty="0" err="1">
                <a:latin typeface="Arial" charset="0"/>
                <a:cs typeface="Arial" charset="0"/>
              </a:rPr>
              <a:t>recall</a:t>
            </a:r>
            <a:r>
              <a:rPr lang="es-CO" dirty="0">
                <a:latin typeface="Arial" charset="0"/>
                <a:cs typeface="Arial" charset="0"/>
              </a:rPr>
              <a:t> y matrices de confusión</a:t>
            </a:r>
          </a:p>
        </p:txBody>
      </p:sp>
    </p:spTree>
    <p:extLst>
      <p:ext uri="{BB962C8B-B14F-4D97-AF65-F5344CB8AC3E}">
        <p14:creationId xmlns:p14="http://schemas.microsoft.com/office/powerpoint/2010/main" val="3886717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E0CAC991-E77A-6A61-F8D7-0B54CD85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48984D6-964B-D520-1848-2871E94A2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FEF38DDA-A125-FD3C-36A9-63A7FDAA5F88}"/>
              </a:ext>
            </a:extLst>
          </p:cNvPr>
          <p:cNvSpPr/>
          <p:nvPr/>
        </p:nvSpPr>
        <p:spPr>
          <a:xfrm>
            <a:off x="1341913" y="583285"/>
            <a:ext cx="716082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Dataset</a:t>
            </a:r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— </a:t>
            </a:r>
            <a:r>
              <a:rPr lang="es-CO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Andalusian</a:t>
            </a:r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s-CO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Hotels</a:t>
            </a:r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</a:t>
            </a:r>
            <a:r>
              <a:rPr lang="es-CO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Reviews</a:t>
            </a:r>
            <a:endParaRPr lang="es-CO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  <a:p>
            <a:pPr algn="ctr"/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511804-F581-D5C7-FCBD-80046B058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51" y="1815516"/>
            <a:ext cx="5397296" cy="42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CO" sz="1600" b="0" dirty="0">
                <a:latin typeface="Arial" charset="0"/>
                <a:cs typeface="Arial" charset="0"/>
              </a:rPr>
              <a:t>Fuente: </a:t>
            </a:r>
            <a:r>
              <a:rPr lang="es-CO" sz="1600" b="0" dirty="0" err="1">
                <a:latin typeface="Arial" charset="0"/>
                <a:cs typeface="Arial" charset="0"/>
              </a:rPr>
              <a:t>Kaggle</a:t>
            </a:r>
            <a:r>
              <a:rPr lang="es-CO" sz="1600" b="0" dirty="0">
                <a:latin typeface="Arial" charset="0"/>
                <a:cs typeface="Arial" charset="0"/>
              </a:rPr>
              <a:t> — </a:t>
            </a:r>
            <a:r>
              <a:rPr lang="es-CO" sz="1600" b="0" dirty="0" err="1">
                <a:latin typeface="Arial" charset="0"/>
                <a:cs typeface="Arial" charset="0"/>
              </a:rPr>
              <a:t>chizhikchi</a:t>
            </a:r>
            <a:r>
              <a:rPr lang="es-CO" sz="1600" b="0" dirty="0">
                <a:latin typeface="Arial" charset="0"/>
                <a:cs typeface="Arial" charset="0"/>
              </a:rPr>
              <a:t>/</a:t>
            </a:r>
            <a:r>
              <a:rPr lang="es-CO" sz="1600" b="0" dirty="0" err="1">
                <a:latin typeface="Arial" charset="0"/>
                <a:cs typeface="Arial" charset="0"/>
              </a:rPr>
              <a:t>andalusian-hotels-reviews-unbalanced</a:t>
            </a:r>
            <a:endParaRPr lang="es-CO" sz="1600" b="0" dirty="0">
              <a:latin typeface="Arial" charset="0"/>
              <a:cs typeface="Arial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18,172 reseñas de hoteles en español · 5 clases •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Variable objetivo: rating de 1 a 5 estrellas (</a:t>
            </a:r>
            <a:r>
              <a:rPr lang="es-MX" sz="1600" b="0" dirty="0" err="1">
                <a:latin typeface="Arial" charset="0"/>
                <a:cs typeface="Arial" charset="0"/>
              </a:rPr>
              <a:t>labels</a:t>
            </a:r>
            <a:r>
              <a:rPr lang="es-MX" sz="1600" b="0" dirty="0">
                <a:latin typeface="Arial" charset="0"/>
                <a:cs typeface="Arial" charset="0"/>
              </a:rPr>
              <a:t> 0-4 en </a:t>
            </a:r>
            <a:r>
              <a:rPr lang="es-MX" sz="1600" b="0" dirty="0" err="1">
                <a:latin typeface="Arial" charset="0"/>
                <a:cs typeface="Arial" charset="0"/>
              </a:rPr>
              <a:t>PyTorch</a:t>
            </a:r>
            <a:r>
              <a:rPr lang="es-MX" sz="1600" b="0" dirty="0">
                <a:latin typeface="Arial" charset="0"/>
                <a:cs typeface="Arial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Desbalance severo: clase 5 estrellas tiene 49.6% de las muestras vs 5.5% de 2 estrellas (ratio 9.1:1)</a:t>
            </a:r>
            <a:br>
              <a:rPr lang="es-CO" dirty="0"/>
            </a:br>
            <a:endParaRPr lang="es-CO" b="0" dirty="0"/>
          </a:p>
          <a:p>
            <a:r>
              <a:rPr lang="es-CO" sz="1600" dirty="0">
                <a:solidFill>
                  <a:srgbClr val="FFC000"/>
                </a:solidFill>
                <a:latin typeface="Arial" charset="0"/>
                <a:cs typeface="Arial" charset="0"/>
              </a:rPr>
              <a:t>Limitaciones conocidas del </a:t>
            </a:r>
            <a:r>
              <a:rPr lang="es-CO" sz="1600" dirty="0" err="1">
                <a:solidFill>
                  <a:srgbClr val="FFC000"/>
                </a:solidFill>
                <a:latin typeface="Arial" charset="0"/>
                <a:cs typeface="Arial" charset="0"/>
              </a:rPr>
              <a:t>dataset</a:t>
            </a:r>
            <a:endParaRPr lang="es-CO" sz="1600" dirty="0">
              <a:solidFill>
                <a:srgbClr val="FFC000"/>
              </a:solidFill>
              <a:latin typeface="Arial" charset="0"/>
              <a:cs typeface="Arial" charset="0"/>
            </a:endParaRPr>
          </a:p>
          <a:p>
            <a:r>
              <a:rPr lang="es-MX" sz="1600" b="0" dirty="0">
                <a:latin typeface="Arial" charset="0"/>
                <a:cs typeface="Arial" charset="0"/>
              </a:rPr>
              <a:t>• 21% de duplicados exactos en </a:t>
            </a:r>
            <a:r>
              <a:rPr lang="es-MX" sz="1600" b="0" dirty="0" err="1">
                <a:latin typeface="Arial" charset="0"/>
                <a:cs typeface="Arial" charset="0"/>
              </a:rPr>
              <a:t>train</a:t>
            </a:r>
            <a:r>
              <a:rPr lang="es-MX" sz="1600" b="0" dirty="0">
                <a:latin typeface="Arial" charset="0"/>
                <a:cs typeface="Arial" charset="0"/>
              </a:rPr>
              <a:t> (2,674 muestras)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Data </a:t>
            </a:r>
            <a:r>
              <a:rPr lang="es-CO" sz="1600" b="0" dirty="0" err="1">
                <a:latin typeface="Arial" charset="0"/>
                <a:cs typeface="Arial" charset="0"/>
              </a:rPr>
              <a:t>leakage</a:t>
            </a:r>
            <a:r>
              <a:rPr lang="es-CO" sz="1600" b="0" dirty="0">
                <a:latin typeface="Arial" charset="0"/>
                <a:cs typeface="Arial" charset="0"/>
              </a:rPr>
              <a:t>: Train/Test comparten 902 reseñas, Train/Val comparten 868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Documentado explícitamente en el reporte técnico como limitación metodológica</a:t>
            </a:r>
            <a:endParaRPr lang="es-CO" sz="1600" b="0" dirty="0">
              <a:latin typeface="Arial" charset="0"/>
              <a:cs typeface="Arial" charset="0"/>
            </a:endParaRPr>
          </a:p>
          <a:p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image11.png" descr="Figura 1. Distribución de clases en el dataset (conteo y porcentaje por split).">
            <a:extLst>
              <a:ext uri="{FF2B5EF4-FFF2-40B4-BE49-F238E27FC236}">
                <a16:creationId xmlns:a16="http://schemas.microsoft.com/office/drawing/2014/main" id="{7398746A-1D78-1FB1-BD51-D60575E4A9F3}"/>
              </a:ext>
            </a:extLst>
          </p:cNvPr>
          <p:cNvPicPr/>
          <p:nvPr/>
        </p:nvPicPr>
        <p:blipFill>
          <a:blip r:embed="rId4"/>
          <a:srcRect t="5541" r="30758"/>
          <a:stretch>
            <a:fillRect/>
          </a:stretch>
        </p:blipFill>
        <p:spPr>
          <a:xfrm>
            <a:off x="6448425" y="2089823"/>
            <a:ext cx="5046345" cy="37128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1424603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19D60-A484-FCA9-E36A-749034AD0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A9935CF-B8FD-48FE-882A-2AB0914CC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636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63C52596-7BC2-070B-4D96-535A51C63649}"/>
              </a:ext>
            </a:extLst>
          </p:cNvPr>
          <p:cNvSpPr/>
          <p:nvPr/>
        </p:nvSpPr>
        <p:spPr>
          <a:xfrm>
            <a:off x="1156996" y="415481"/>
            <a:ext cx="734573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Dataset</a:t>
            </a:r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— Longitud de Reseñas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261C031-6ADB-1B63-3875-0C86CEC29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332242"/>
              </p:ext>
            </p:extLst>
          </p:nvPr>
        </p:nvGraphicFramePr>
        <p:xfrm>
          <a:off x="480270" y="4359567"/>
          <a:ext cx="11231459" cy="2286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743819">
                  <a:extLst>
                    <a:ext uri="{9D8B030D-6E8A-4147-A177-3AD203B41FA5}">
                      <a16:colId xmlns:a16="http://schemas.microsoft.com/office/drawing/2014/main" val="285900527"/>
                    </a:ext>
                  </a:extLst>
                </a:gridCol>
                <a:gridCol w="3455834">
                  <a:extLst>
                    <a:ext uri="{9D8B030D-6E8A-4147-A177-3AD203B41FA5}">
                      <a16:colId xmlns:a16="http://schemas.microsoft.com/office/drawing/2014/main" val="3736993866"/>
                    </a:ext>
                  </a:extLst>
                </a:gridCol>
                <a:gridCol w="4031806">
                  <a:extLst>
                    <a:ext uri="{9D8B030D-6E8A-4147-A177-3AD203B41FA5}">
                      <a16:colId xmlns:a16="http://schemas.microsoft.com/office/drawing/2014/main" val="92599134"/>
                    </a:ext>
                  </a:extLst>
                </a:gridCol>
              </a:tblGrid>
              <a:tr h="2169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Estadística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Caracteres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Tokens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58087361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Media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456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78.5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05501624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Desviación estándar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307.2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54.9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73419251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Mínimo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61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31205998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Percentil 25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250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42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33077846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Mediana (P50)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355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61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78400867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Percentil 75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590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102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18915565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Percentil 95 (MAX_LEN base)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790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148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79252422"/>
                  </a:ext>
                </a:extLst>
              </a:tr>
              <a:tr h="216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Máximo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7,777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~1,300+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6354509"/>
                  </a:ext>
                </a:extLst>
              </a:tr>
            </a:tbl>
          </a:graphicData>
        </a:graphic>
      </p:graphicFrame>
      <p:pic>
        <p:nvPicPr>
          <p:cNvPr id="6" name="image3.png" descr="Figura 4. Boxplot de longitudes por clase. Las clases extremas (1★ y 5★) tienden a reseñas más cortas que las intermedias.">
            <a:extLst>
              <a:ext uri="{FF2B5EF4-FFF2-40B4-BE49-F238E27FC236}">
                <a16:creationId xmlns:a16="http://schemas.microsoft.com/office/drawing/2014/main" id="{5567E424-B5D7-1331-745D-0658D09669B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61993" y="1919501"/>
            <a:ext cx="5524500" cy="1952625"/>
          </a:xfrm>
          <a:prstGeom prst="rect">
            <a:avLst/>
          </a:prstGeom>
          <a:ln/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8333E11-8192-3C38-9AD6-49C28B271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270" y="1703548"/>
            <a:ext cx="5065582" cy="253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CO" sz="1600" b="0" dirty="0">
                <a:latin typeface="Arial" charset="0"/>
                <a:cs typeface="Arial" charset="0"/>
              </a:rPr>
              <a:t>MAX_LEN = 150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1600" b="0" dirty="0">
                <a:latin typeface="Arial" charset="0"/>
                <a:cs typeface="Arial" charset="0"/>
              </a:rPr>
              <a:t>MAX_LEN = 200</a:t>
            </a:r>
            <a:br>
              <a:rPr lang="es-CO" sz="1600" b="0" dirty="0">
                <a:latin typeface="Arial" charset="0"/>
                <a:cs typeface="Arial" charset="0"/>
              </a:rPr>
            </a:br>
            <a:endParaRPr lang="es-CO" altLang="es-CO" sz="1600" b="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456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ED17B-391D-BF48-930F-3451A0ED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8C7ECC4-3607-2D7F-D6B5-8B9D01013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3C8F96A4-E864-B603-AC51-846559A96E70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Dataset</a:t>
            </a:r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- Vocabulario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76B0A5A-4D74-165A-7C2D-0D67941B2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5533"/>
              </p:ext>
            </p:extLst>
          </p:nvPr>
        </p:nvGraphicFramePr>
        <p:xfrm>
          <a:off x="968189" y="4596632"/>
          <a:ext cx="10445674" cy="1685014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571171">
                  <a:extLst>
                    <a:ext uri="{9D8B030D-6E8A-4147-A177-3AD203B41FA5}">
                      <a16:colId xmlns:a16="http://schemas.microsoft.com/office/drawing/2014/main" val="1371550479"/>
                    </a:ext>
                  </a:extLst>
                </a:gridCol>
                <a:gridCol w="2231981">
                  <a:extLst>
                    <a:ext uri="{9D8B030D-6E8A-4147-A177-3AD203B41FA5}">
                      <a16:colId xmlns:a16="http://schemas.microsoft.com/office/drawing/2014/main" val="4133109922"/>
                    </a:ext>
                  </a:extLst>
                </a:gridCol>
                <a:gridCol w="4642522">
                  <a:extLst>
                    <a:ext uri="{9D8B030D-6E8A-4147-A177-3AD203B41FA5}">
                      <a16:colId xmlns:a16="http://schemas.microsoft.com/office/drawing/2014/main" val="1468979135"/>
                    </a:ext>
                  </a:extLst>
                </a:gridCol>
              </a:tblGrid>
              <a:tr h="24521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Tipo de vocabulario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Tokens únicos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Observación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18944819"/>
                  </a:ext>
                </a:extLst>
              </a:tr>
              <a:tr h="392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Bruto (sin limpieza)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57,231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Incluye puntuación, mayúsculas, variantes ortográficas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3536346"/>
                  </a:ext>
                </a:extLst>
              </a:tr>
              <a:tr h="2452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Lowercase sin puntuación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52,449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Normalización básica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63798538"/>
                  </a:ext>
                </a:extLst>
              </a:tr>
              <a:tr h="392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Limpio (con clean_text)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27,967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Reducción del 51.1% respecto al bruto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27902480"/>
                  </a:ext>
                </a:extLst>
              </a:tr>
              <a:tr h="392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VOCAB_SIZE usado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20,000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Cubre el 99.2% de todos los tokens del corpus limpio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82045047"/>
                  </a:ext>
                </a:extLst>
              </a:tr>
            </a:tbl>
          </a:graphicData>
        </a:graphic>
      </p:graphicFrame>
      <p:pic>
        <p:nvPicPr>
          <p:cNvPr id="7" name="image16.png" descr="Figura 5. Distribución Zipf del vocabulario y curva de cobertura acumulada. El top-20,000 palabras cubre el 99.2% de todos los tokens.">
            <a:extLst>
              <a:ext uri="{FF2B5EF4-FFF2-40B4-BE49-F238E27FC236}">
                <a16:creationId xmlns:a16="http://schemas.microsoft.com/office/drawing/2014/main" id="{9086E392-8E9E-6BDD-29C4-ED185D7F5F4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924939" y="1838862"/>
            <a:ext cx="5290431" cy="2176281"/>
          </a:xfrm>
          <a:prstGeom prst="rect">
            <a:avLst/>
          </a:prstGeom>
          <a:ln/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1C281B93-BB92-F336-36AD-B4A9EB5BD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51" y="1815516"/>
            <a:ext cx="5065582" cy="253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s-MX" sz="1600" b="0" dirty="0">
                <a:latin typeface="Arial" charset="0"/>
                <a:cs typeface="Arial" charset="0"/>
              </a:rPr>
              <a:t>• Tokens únicos brutos: ~57,231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Tras limpieza y normalización: ~20,000 tokens activos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VOCAB_SIZE = 20,000 ® 99.2% de cobertura del corpus 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Stop </a:t>
            </a:r>
            <a:r>
              <a:rPr lang="es-MX" sz="1600" b="0" dirty="0" err="1">
                <a:latin typeface="Arial" charset="0"/>
                <a:cs typeface="Arial" charset="0"/>
              </a:rPr>
              <a:t>words</a:t>
            </a:r>
            <a:r>
              <a:rPr lang="es-MX" sz="1600" b="0" dirty="0">
                <a:latin typeface="Arial" charset="0"/>
                <a:cs typeface="Arial" charset="0"/>
              </a:rPr>
              <a:t> CONSERVADAS — críticas para sentimiento 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Tildes y ñ PRESERVADAS — el español lo requiere</a:t>
            </a:r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207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30FC2-4ADA-1ECB-2B5F-00C6B747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3FFB714-04DC-06AA-7CFE-1046D6DD0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427CA7D1-9546-AE43-E587-7625A0ECE5CE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Dataset</a:t>
            </a:r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– Distribución de Clases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75B5F5-AB80-B384-6C23-B467AB3DEA07}"/>
              </a:ext>
            </a:extLst>
          </p:cNvPr>
          <p:cNvSpPr txBox="1"/>
          <p:nvPr/>
        </p:nvSpPr>
        <p:spPr>
          <a:xfrm>
            <a:off x="5538157" y="5202713"/>
            <a:ext cx="61592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 i="1" dirty="0">
                <a:latin typeface="Arial" charset="0"/>
              </a:rPr>
              <a:t>Desbalance severo: ratio 9.1:1 entre clase mayoritaria (5 </a:t>
            </a:r>
            <a:r>
              <a:rPr lang="es-CO" sz="1400" i="1" dirty="0" err="1">
                <a:latin typeface="Arial" charset="0"/>
              </a:rPr>
              <a:t>est</a:t>
            </a:r>
            <a:r>
              <a:rPr lang="es-CO" sz="1400" i="1" dirty="0">
                <a:latin typeface="Arial" charset="0"/>
              </a:rPr>
              <a:t>.) y minoritaria (2 </a:t>
            </a:r>
            <a:r>
              <a:rPr lang="es-CO" sz="1400" i="1" dirty="0" err="1">
                <a:latin typeface="Arial" charset="0"/>
              </a:rPr>
              <a:t>est</a:t>
            </a:r>
            <a:r>
              <a:rPr lang="es-CO" sz="1400" i="1" dirty="0">
                <a:latin typeface="Arial" charset="0"/>
              </a:rPr>
              <a:t>.). Un clasificador trivial que prediga siempre 5 </a:t>
            </a:r>
            <a:r>
              <a:rPr lang="es-CO" sz="1400" i="1" dirty="0" err="1">
                <a:latin typeface="Arial" charset="0"/>
              </a:rPr>
              <a:t>est</a:t>
            </a:r>
            <a:r>
              <a:rPr lang="es-CO" sz="1400" i="1" dirty="0">
                <a:latin typeface="Arial" charset="0"/>
              </a:rPr>
              <a:t>. obtiene 49.6% </a:t>
            </a:r>
            <a:r>
              <a:rPr lang="es-CO" sz="1400" i="1" dirty="0" err="1">
                <a:latin typeface="Arial" charset="0"/>
              </a:rPr>
              <a:t>accuracy</a:t>
            </a:r>
            <a:r>
              <a:rPr lang="es-CO" sz="1400" i="1" dirty="0">
                <a:latin typeface="Arial" charset="0"/>
              </a:rPr>
              <a:t> pero ~0 F1 macro.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36DA8FB-FD7A-D1A2-96C7-8CA92B58C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764" y="1441564"/>
            <a:ext cx="10782932" cy="357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900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D3AA-35E5-64F6-596F-320954CE5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FF29134-5324-8EB3-0016-9EC66024E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8D91873A-080B-E430-FBD5-543256CB6912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Pipeline de preprocesamiento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9828396-D0BF-A203-B712-484D9F684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51" y="1815516"/>
            <a:ext cx="9311010" cy="253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Stop </a:t>
            </a:r>
            <a:r>
              <a:rPr lang="es-MX" sz="1600" b="0" dirty="0" err="1">
                <a:latin typeface="Arial" charset="0"/>
                <a:cs typeface="Arial" charset="0"/>
              </a:rPr>
              <a:t>words</a:t>
            </a:r>
            <a:r>
              <a:rPr lang="es-MX" sz="1600" b="0" dirty="0">
                <a:latin typeface="Arial" charset="0"/>
                <a:cs typeface="Arial" charset="0"/>
              </a:rPr>
              <a:t>: Conservadas (vitales para detectar negaciones y sentimiento).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Tildes: Preservadas (esenciales para evitar ambigüedades léxicas en español).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 err="1">
                <a:latin typeface="Arial" charset="0"/>
                <a:cs typeface="Arial" charset="0"/>
              </a:rPr>
              <a:t>Tokenización</a:t>
            </a:r>
            <a:r>
              <a:rPr lang="es-MX" sz="1600" b="0" dirty="0">
                <a:latin typeface="Arial" charset="0"/>
                <a:cs typeface="Arial" charset="0"/>
              </a:rPr>
              <a:t>: Palabras (Top 20k, óptimo para arquitecturas LSTM).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>
                <a:latin typeface="Arial" charset="0"/>
                <a:cs typeface="Arial" charset="0"/>
              </a:rPr>
              <a:t>MAX_LEN: 150-200 tokens (basado en el percentil 95 = 148).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 err="1">
                <a:latin typeface="Arial" charset="0"/>
                <a:cs typeface="Arial" charset="0"/>
              </a:rPr>
              <a:t>Embeddings</a:t>
            </a:r>
            <a:r>
              <a:rPr lang="es-MX" sz="1600" b="0" dirty="0">
                <a:latin typeface="Arial" charset="0"/>
                <a:cs typeface="Arial" charset="0"/>
              </a:rPr>
              <a:t>: Entrenados desde cero (para asegurar una comparación técnica imparcial).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dirty="0" err="1">
                <a:latin typeface="Arial" charset="0"/>
                <a:cs typeface="Arial" charset="0"/>
              </a:rPr>
              <a:t>Splits</a:t>
            </a:r>
            <a:r>
              <a:rPr lang="es-MX" sz="1600" b="0" dirty="0">
                <a:latin typeface="Arial" charset="0"/>
                <a:cs typeface="Arial" charset="0"/>
              </a:rPr>
              <a:t>: 70/15/15 estratificados con semilla 42 (para garantizar reproducibilidad).</a:t>
            </a:r>
            <a:br>
              <a:rPr lang="es-CO" dirty="0"/>
            </a:b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CF2AE8-C22C-5356-31E0-ADD234CFB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502119"/>
              </p:ext>
            </p:extLst>
          </p:nvPr>
        </p:nvGraphicFramePr>
        <p:xfrm>
          <a:off x="602789" y="4589600"/>
          <a:ext cx="10644300" cy="2032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843029">
                  <a:extLst>
                    <a:ext uri="{9D8B030D-6E8A-4147-A177-3AD203B41FA5}">
                      <a16:colId xmlns:a16="http://schemas.microsoft.com/office/drawing/2014/main" val="805762746"/>
                    </a:ext>
                  </a:extLst>
                </a:gridCol>
                <a:gridCol w="7801271">
                  <a:extLst>
                    <a:ext uri="{9D8B030D-6E8A-4147-A177-3AD203B41FA5}">
                      <a16:colId xmlns:a16="http://schemas.microsoft.com/office/drawing/2014/main" val="29652840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Función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5226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clean_text()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Lowercase → normalización NFKD (preserva tildes y ñ) → elimina URLs/emails/números → elimina caracteres especiales → normaliza espacios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51979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build_tokenizer()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Construye vocabulario top-20,000 palabras SOLO desde train. Reserva &lt;PAD&gt;=0, &lt;UNK&gt;=1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17606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encode_sequences()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Convierte texto a índices enteros con padding/truncado a longitud fija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55873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build_splits()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Splits estratificados 70/15/15, semilla=42, guardados como CSV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561540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compute_class_weights()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Pesos balanced (n_total / n_classes × n_c) para CrossEntropyLoss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7820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ReviewDataset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Dataset PyTorch: devuelve (secuencia, etiqueta) como tensores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5482596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build_pipeline()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effectLst/>
                        </a:rPr>
                        <a:t>Orquesta </a:t>
                      </a:r>
                      <a:r>
                        <a:rPr lang="en-US" sz="1000" dirty="0" err="1">
                          <a:effectLst/>
                        </a:rPr>
                        <a:t>todo</a:t>
                      </a:r>
                      <a:r>
                        <a:rPr lang="en-US" sz="1000" dirty="0">
                          <a:effectLst/>
                        </a:rPr>
                        <a:t> y </a:t>
                      </a:r>
                      <a:r>
                        <a:rPr lang="en-US" sz="1000" dirty="0" err="1">
                          <a:effectLst/>
                        </a:rPr>
                        <a:t>devuelve</a:t>
                      </a:r>
                      <a:r>
                        <a:rPr lang="en-US" sz="1000" dirty="0">
                          <a:effectLst/>
                        </a:rPr>
                        <a:t> train/</a:t>
                      </a:r>
                      <a:r>
                        <a:rPr lang="en-US" sz="1000" dirty="0" err="1">
                          <a:effectLst/>
                        </a:rPr>
                        <a:t>val</a:t>
                      </a:r>
                      <a:r>
                        <a:rPr lang="en-US" sz="1000" dirty="0">
                          <a:effectLst/>
                        </a:rPr>
                        <a:t>/test </a:t>
                      </a:r>
                      <a:r>
                        <a:rPr lang="en-US" sz="1000" dirty="0" err="1">
                          <a:effectLst/>
                        </a:rPr>
                        <a:t>DataLoaders</a:t>
                      </a:r>
                      <a:r>
                        <a:rPr lang="en-US" sz="1000" dirty="0">
                          <a:effectLst/>
                        </a:rPr>
                        <a:t> + word2idx + </a:t>
                      </a:r>
                      <a:r>
                        <a:rPr lang="en-US" sz="1000" dirty="0" err="1">
                          <a:effectLst/>
                        </a:rPr>
                        <a:t>class_weights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982785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3770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F75C-50AE-64ED-5F0D-A593B9A8E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9549145-5CB8-EF1F-5BAF-09C3A87D9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9299F60A-62D4-0B14-CD23-C74F47844ED7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Infraestructura de entrenamiento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DD25BAC9-9D1B-255B-5519-004B9BBF1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50" y="1815516"/>
            <a:ext cx="11425949" cy="2532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s-CO" sz="1600" dirty="0">
                <a:solidFill>
                  <a:srgbClr val="FFC000"/>
                </a:solidFill>
                <a:latin typeface="Arial" charset="0"/>
                <a:cs typeface="Arial" charset="0"/>
              </a:rPr>
              <a:t>src/training.py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train</a:t>
            </a:r>
            <a:r>
              <a:rPr lang="es-CO" sz="1600" b="0" dirty="0">
                <a:latin typeface="Arial" charset="0"/>
                <a:cs typeface="Arial" charset="0"/>
              </a:rPr>
              <a:t>(</a:t>
            </a:r>
            <a:r>
              <a:rPr lang="es-CO" sz="1600" b="0" dirty="0" err="1">
                <a:latin typeface="Arial" charset="0"/>
                <a:cs typeface="Arial" charset="0"/>
              </a:rPr>
              <a:t>model</a:t>
            </a:r>
            <a:r>
              <a:rPr lang="es-CO" sz="1600" b="0" dirty="0">
                <a:latin typeface="Arial" charset="0"/>
                <a:cs typeface="Arial" charset="0"/>
              </a:rPr>
              <a:t>, </a:t>
            </a:r>
            <a:r>
              <a:rPr lang="es-CO" sz="1600" b="0" dirty="0" err="1">
                <a:latin typeface="Arial" charset="0"/>
                <a:cs typeface="Arial" charset="0"/>
              </a:rPr>
              <a:t>train_loader</a:t>
            </a:r>
            <a:r>
              <a:rPr lang="es-CO" sz="1600" b="0" dirty="0">
                <a:latin typeface="Arial" charset="0"/>
                <a:cs typeface="Arial" charset="0"/>
              </a:rPr>
              <a:t>, </a:t>
            </a:r>
            <a:r>
              <a:rPr lang="es-CO" sz="1600" b="0" dirty="0" err="1">
                <a:latin typeface="Arial" charset="0"/>
                <a:cs typeface="Arial" charset="0"/>
              </a:rPr>
              <a:t>val_loader</a:t>
            </a:r>
            <a:r>
              <a:rPr lang="es-CO" sz="1600" b="0" dirty="0">
                <a:latin typeface="Arial" charset="0"/>
                <a:cs typeface="Arial" charset="0"/>
              </a:rPr>
              <a:t>, </a:t>
            </a:r>
            <a:r>
              <a:rPr lang="es-CO" sz="1600" b="0" dirty="0" err="1">
                <a:latin typeface="Arial" charset="0"/>
                <a:cs typeface="Arial" charset="0"/>
              </a:rPr>
              <a:t>config</a:t>
            </a:r>
            <a:r>
              <a:rPr lang="es-CO" sz="1600" b="0" dirty="0">
                <a:latin typeface="Arial" charset="0"/>
                <a:cs typeface="Arial" charset="0"/>
              </a:rPr>
              <a:t>) ® </a:t>
            </a:r>
            <a:r>
              <a:rPr lang="es-CO" sz="1600" b="0" dirty="0" err="1">
                <a:latin typeface="Arial" charset="0"/>
                <a:cs typeface="Arial" charset="0"/>
              </a:rPr>
              <a:t>metrics_dict</a:t>
            </a:r>
            <a:endParaRPr lang="es-CO" sz="1600" b="0" dirty="0">
              <a:latin typeface="Arial" charset="0"/>
              <a:cs typeface="Arial" charset="0"/>
            </a:endParaRP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EarlyStopping</a:t>
            </a:r>
            <a:r>
              <a:rPr lang="es-CO" sz="1600" b="0" dirty="0">
                <a:latin typeface="Arial" charset="0"/>
                <a:cs typeface="Arial" charset="0"/>
              </a:rPr>
              <a:t>: monitorea </a:t>
            </a:r>
            <a:r>
              <a:rPr lang="es-CO" sz="1600" b="0" dirty="0" err="1">
                <a:latin typeface="Arial" charset="0"/>
                <a:cs typeface="Arial" charset="0"/>
              </a:rPr>
              <a:t>val_loss</a:t>
            </a:r>
            <a:r>
              <a:rPr lang="es-CO" sz="1600" b="0" dirty="0">
                <a:latin typeface="Arial" charset="0"/>
                <a:cs typeface="Arial" charset="0"/>
              </a:rPr>
              <a:t>, paciencia configurable (5 épocas por defecto)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</a:t>
            </a:r>
            <a:r>
              <a:rPr lang="es-MX" sz="1600" b="0" dirty="0" err="1">
                <a:latin typeface="Arial" charset="0"/>
                <a:cs typeface="Arial" charset="0"/>
              </a:rPr>
              <a:t>ReduceLROnPlateau</a:t>
            </a:r>
            <a:r>
              <a:rPr lang="es-MX" sz="1600" b="0" dirty="0">
                <a:latin typeface="Arial" charset="0"/>
                <a:cs typeface="Arial" charset="0"/>
              </a:rPr>
              <a:t>: reduce lr×0.5 si </a:t>
            </a:r>
            <a:r>
              <a:rPr lang="es-MX" sz="1600" b="0" dirty="0" err="1">
                <a:latin typeface="Arial" charset="0"/>
                <a:cs typeface="Arial" charset="0"/>
              </a:rPr>
              <a:t>val_loss</a:t>
            </a:r>
            <a:r>
              <a:rPr lang="es-MX" sz="1600" b="0" dirty="0">
                <a:latin typeface="Arial" charset="0"/>
                <a:cs typeface="Arial" charset="0"/>
              </a:rPr>
              <a:t> no mejora en 2 épocas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Gradient</a:t>
            </a:r>
            <a:r>
              <a:rPr lang="es-CO" sz="1600" b="0" dirty="0">
                <a:latin typeface="Arial" charset="0"/>
                <a:cs typeface="Arial" charset="0"/>
              </a:rPr>
              <a:t> </a:t>
            </a:r>
            <a:r>
              <a:rPr lang="es-CO" sz="1600" b="0" dirty="0" err="1">
                <a:latin typeface="Arial" charset="0"/>
                <a:cs typeface="Arial" charset="0"/>
              </a:rPr>
              <a:t>clipping</a:t>
            </a:r>
            <a:r>
              <a:rPr lang="es-CO" sz="1600" b="0" dirty="0">
                <a:latin typeface="Arial" charset="0"/>
                <a:cs typeface="Arial" charset="0"/>
              </a:rPr>
              <a:t>: </a:t>
            </a:r>
            <a:r>
              <a:rPr lang="es-CO" sz="1600" b="0" dirty="0" err="1">
                <a:latin typeface="Arial" charset="0"/>
                <a:cs typeface="Arial" charset="0"/>
              </a:rPr>
              <a:t>max_norm</a:t>
            </a:r>
            <a:r>
              <a:rPr lang="es-CO" sz="1600" b="0" dirty="0">
                <a:latin typeface="Arial" charset="0"/>
                <a:cs typeface="Arial" charset="0"/>
              </a:rPr>
              <a:t>=1.0 para prevenir explosión en LSTM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Checkpoint</a:t>
            </a:r>
            <a:r>
              <a:rPr lang="es-CO" sz="1600" b="0" dirty="0">
                <a:latin typeface="Arial" charset="0"/>
                <a:cs typeface="Arial" charset="0"/>
              </a:rPr>
              <a:t> automático: </a:t>
            </a:r>
            <a:r>
              <a:rPr lang="es-CO" sz="1600" b="0" dirty="0" err="1">
                <a:latin typeface="Arial" charset="0"/>
                <a:cs typeface="Arial" charset="0"/>
              </a:rPr>
              <a:t>torch.save</a:t>
            </a:r>
            <a:r>
              <a:rPr lang="es-CO" sz="1600" b="0" dirty="0">
                <a:latin typeface="Arial" charset="0"/>
                <a:cs typeface="Arial" charset="0"/>
              </a:rPr>
              <a:t>(</a:t>
            </a:r>
            <a:r>
              <a:rPr lang="es-CO" sz="1600" b="0" dirty="0" err="1">
                <a:latin typeface="Arial" charset="0"/>
                <a:cs typeface="Arial" charset="0"/>
              </a:rPr>
              <a:t>model.state_dict</a:t>
            </a:r>
            <a:r>
              <a:rPr lang="es-CO" sz="1600" b="0" dirty="0">
                <a:latin typeface="Arial" charset="0"/>
                <a:cs typeface="Arial" charset="0"/>
              </a:rPr>
              <a:t>()) al mejor </a:t>
            </a:r>
            <a:r>
              <a:rPr lang="es-CO" sz="1600" b="0" dirty="0" err="1">
                <a:latin typeface="Arial" charset="0"/>
                <a:cs typeface="Arial" charset="0"/>
              </a:rPr>
              <a:t>val_loss</a:t>
            </a:r>
            <a:endParaRPr lang="es-CO" sz="1600" b="0" dirty="0">
              <a:latin typeface="Arial" charset="0"/>
              <a:cs typeface="Arial" charset="0"/>
            </a:endParaRPr>
          </a:p>
          <a:p>
            <a:r>
              <a:rPr lang="es-MX" sz="1600" b="0" dirty="0">
                <a:latin typeface="Arial" charset="0"/>
                <a:cs typeface="Arial" charset="0"/>
              </a:rPr>
              <a:t>• </a:t>
            </a:r>
            <a:r>
              <a:rPr lang="es-MX" sz="1600" b="0" dirty="0" err="1">
                <a:latin typeface="Arial" charset="0"/>
                <a:cs typeface="Arial" charset="0"/>
              </a:rPr>
              <a:t>evaluate</a:t>
            </a:r>
            <a:r>
              <a:rPr lang="es-MX" sz="1600" b="0" dirty="0">
                <a:latin typeface="Arial" charset="0"/>
                <a:cs typeface="Arial" charset="0"/>
              </a:rPr>
              <a:t>(): carga el mejor </a:t>
            </a:r>
            <a:r>
              <a:rPr lang="es-MX" sz="1600" b="0" dirty="0" err="1">
                <a:latin typeface="Arial" charset="0"/>
                <a:cs typeface="Arial" charset="0"/>
              </a:rPr>
              <a:t>checkpoint</a:t>
            </a:r>
            <a:r>
              <a:rPr lang="es-MX" sz="1600" b="0" dirty="0">
                <a:latin typeface="Arial" charset="0"/>
                <a:cs typeface="Arial" charset="0"/>
              </a:rPr>
              <a:t> y evalúa en test UNA sola vez</a:t>
            </a:r>
          </a:p>
          <a:p>
            <a:r>
              <a:rPr lang="es-CO" sz="1600" dirty="0">
                <a:solidFill>
                  <a:srgbClr val="FFC000"/>
                </a:solidFill>
                <a:latin typeface="Arial" charset="0"/>
                <a:cs typeface="Arial" charset="0"/>
              </a:rPr>
              <a:t>src/metrics.py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</a:t>
            </a:r>
            <a:r>
              <a:rPr lang="es-MX" sz="1600" b="0" dirty="0" err="1">
                <a:latin typeface="Arial" charset="0"/>
                <a:cs typeface="Arial" charset="0"/>
              </a:rPr>
              <a:t>compute_metrics</a:t>
            </a:r>
            <a:r>
              <a:rPr lang="es-MX" sz="1600" b="0" dirty="0">
                <a:latin typeface="Arial" charset="0"/>
                <a:cs typeface="Arial" charset="0"/>
              </a:rPr>
              <a:t>(): </a:t>
            </a:r>
            <a:r>
              <a:rPr lang="es-MX" sz="1600" b="0" dirty="0" err="1">
                <a:latin typeface="Arial" charset="0"/>
                <a:cs typeface="Arial" charset="0"/>
              </a:rPr>
              <a:t>accuracy</a:t>
            </a:r>
            <a:r>
              <a:rPr lang="es-MX" sz="1600" b="0" dirty="0">
                <a:latin typeface="Arial" charset="0"/>
                <a:cs typeface="Arial" charset="0"/>
              </a:rPr>
              <a:t>, F1 macro y por clase, matriz de confusión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plot_training_curves</a:t>
            </a:r>
            <a:r>
              <a:rPr lang="es-CO" sz="1600" b="0" dirty="0">
                <a:latin typeface="Arial" charset="0"/>
                <a:cs typeface="Arial" charset="0"/>
              </a:rPr>
              <a:t>(): PNG de curvas </a:t>
            </a:r>
            <a:r>
              <a:rPr lang="es-CO" sz="1600" b="0" dirty="0" err="1">
                <a:latin typeface="Arial" charset="0"/>
                <a:cs typeface="Arial" charset="0"/>
              </a:rPr>
              <a:t>loss</a:t>
            </a:r>
            <a:r>
              <a:rPr lang="es-CO" sz="1600" b="0" dirty="0">
                <a:latin typeface="Arial" charset="0"/>
                <a:cs typeface="Arial" charset="0"/>
              </a:rPr>
              <a:t>/</a:t>
            </a:r>
            <a:r>
              <a:rPr lang="es-CO" sz="1600" b="0" dirty="0" err="1">
                <a:latin typeface="Arial" charset="0"/>
                <a:cs typeface="Arial" charset="0"/>
              </a:rPr>
              <a:t>accuracy</a:t>
            </a:r>
            <a:r>
              <a:rPr lang="es-CO" sz="1600" b="0" dirty="0">
                <a:latin typeface="Arial" charset="0"/>
                <a:cs typeface="Arial" charset="0"/>
              </a:rPr>
              <a:t> (</a:t>
            </a:r>
            <a:r>
              <a:rPr lang="es-CO" sz="1600" b="0" dirty="0" err="1">
                <a:latin typeface="Arial" charset="0"/>
                <a:cs typeface="Arial" charset="0"/>
              </a:rPr>
              <a:t>train</a:t>
            </a:r>
            <a:r>
              <a:rPr lang="es-CO" sz="1600" b="0" dirty="0">
                <a:latin typeface="Arial" charset="0"/>
                <a:cs typeface="Arial" charset="0"/>
              </a:rPr>
              <a:t> vs val)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</a:t>
            </a:r>
            <a:r>
              <a:rPr lang="es-CO" sz="1600" b="0" dirty="0" err="1">
                <a:latin typeface="Arial" charset="0"/>
                <a:cs typeface="Arial" charset="0"/>
              </a:rPr>
              <a:t>plot_confusion_matrix</a:t>
            </a:r>
            <a:r>
              <a:rPr lang="es-CO" sz="1600" b="0" dirty="0">
                <a:latin typeface="Arial" charset="0"/>
                <a:cs typeface="Arial" charset="0"/>
              </a:rPr>
              <a:t>(): </a:t>
            </a:r>
            <a:r>
              <a:rPr lang="es-CO" sz="1600" b="0" dirty="0" err="1">
                <a:latin typeface="Arial" charset="0"/>
                <a:cs typeface="Arial" charset="0"/>
              </a:rPr>
              <a:t>heatmap</a:t>
            </a:r>
            <a:r>
              <a:rPr lang="es-CO" sz="1600" b="0" dirty="0">
                <a:latin typeface="Arial" charset="0"/>
                <a:cs typeface="Arial" charset="0"/>
              </a:rPr>
              <a:t> normalizado por fila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• </a:t>
            </a:r>
            <a:r>
              <a:rPr lang="es-MX" sz="1600" b="0" dirty="0" err="1">
                <a:latin typeface="Arial" charset="0"/>
                <a:cs typeface="Arial" charset="0"/>
              </a:rPr>
              <a:t>finalize_and_save</a:t>
            </a:r>
            <a:r>
              <a:rPr lang="es-MX" sz="1600" b="0" dirty="0">
                <a:latin typeface="Arial" charset="0"/>
                <a:cs typeface="Arial" charset="0"/>
              </a:rPr>
              <a:t>(): genera JSON estandarizado del equipo + todos los PNG</a:t>
            </a:r>
          </a:p>
          <a:p>
            <a:r>
              <a:rPr lang="es-CO" sz="1600" dirty="0">
                <a:solidFill>
                  <a:srgbClr val="FFC000"/>
                </a:solidFill>
                <a:latin typeface="Arial" charset="0"/>
                <a:cs typeface="Arial" charset="0"/>
              </a:rPr>
              <a:t>Formato JSON estandarizado</a:t>
            </a:r>
          </a:p>
          <a:p>
            <a:r>
              <a:rPr lang="es-MX" sz="1600" b="0" dirty="0">
                <a:latin typeface="Arial" charset="0"/>
                <a:cs typeface="Arial" charset="0"/>
              </a:rPr>
              <a:t>Todos los modelos guardan sus resultados en el mismo formato para que la tabla comparativa final sea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automática:</a:t>
            </a:r>
          </a:p>
          <a:p>
            <a:r>
              <a:rPr lang="en-US" sz="1600" b="0" dirty="0" err="1">
                <a:latin typeface="Arial" charset="0"/>
                <a:cs typeface="Arial" charset="0"/>
              </a:rPr>
              <a:t>model_name</a:t>
            </a:r>
            <a:r>
              <a:rPr lang="en-US" sz="1600" b="0" dirty="0">
                <a:latin typeface="Arial" charset="0"/>
                <a:cs typeface="Arial" charset="0"/>
              </a:rPr>
              <a:t> · owner · track · config (</a:t>
            </a:r>
            <a:r>
              <a:rPr lang="en-US" sz="1600" b="0" dirty="0" err="1">
                <a:latin typeface="Arial" charset="0"/>
                <a:cs typeface="Arial" charset="0"/>
              </a:rPr>
              <a:t>embedding_dim</a:t>
            </a:r>
            <a:r>
              <a:rPr lang="en-US" sz="1600" b="0" dirty="0">
                <a:latin typeface="Arial" charset="0"/>
                <a:cs typeface="Arial" charset="0"/>
              </a:rPr>
              <a:t>, </a:t>
            </a:r>
            <a:r>
              <a:rPr lang="en-US" sz="1600" b="0" dirty="0" err="1">
                <a:latin typeface="Arial" charset="0"/>
                <a:cs typeface="Arial" charset="0"/>
              </a:rPr>
              <a:t>hidden_size</a:t>
            </a:r>
            <a:r>
              <a:rPr lang="en-US" sz="1600" b="0" dirty="0">
                <a:latin typeface="Arial" charset="0"/>
                <a:cs typeface="Arial" charset="0"/>
              </a:rPr>
              <a:t>, dropout, </a:t>
            </a:r>
            <a:r>
              <a:rPr lang="en-US" sz="1600" b="0" dirty="0" err="1">
                <a:latin typeface="Arial" charset="0"/>
                <a:cs typeface="Arial" charset="0"/>
              </a:rPr>
              <a:t>n_params</a:t>
            </a:r>
            <a:r>
              <a:rPr lang="en-US" sz="1600" b="0" dirty="0">
                <a:latin typeface="Arial" charset="0"/>
                <a:cs typeface="Arial" charset="0"/>
              </a:rPr>
              <a:t>)</a:t>
            </a:r>
          </a:p>
          <a:p>
            <a:r>
              <a:rPr lang="en-US" sz="1600" b="0" dirty="0">
                <a:latin typeface="Arial" charset="0"/>
                <a:cs typeface="Arial" charset="0"/>
              </a:rPr>
              <a:t>· metrics (accuracy, f1_macro, f1_per_class, </a:t>
            </a:r>
            <a:r>
              <a:rPr lang="en-US" sz="1600" b="0" dirty="0" err="1">
                <a:latin typeface="Arial" charset="0"/>
                <a:cs typeface="Arial" charset="0"/>
              </a:rPr>
              <a:t>confusion_matrix</a:t>
            </a:r>
            <a:r>
              <a:rPr lang="en-US" sz="1600" b="0" dirty="0">
                <a:latin typeface="Arial" charset="0"/>
                <a:cs typeface="Arial" charset="0"/>
              </a:rPr>
              <a:t>) · training</a:t>
            </a:r>
          </a:p>
          <a:p>
            <a:r>
              <a:rPr lang="en-US" sz="1600" b="0" dirty="0">
                <a:latin typeface="Arial" charset="0"/>
                <a:cs typeface="Arial" charset="0"/>
              </a:rPr>
              <a:t>(</a:t>
            </a:r>
            <a:r>
              <a:rPr lang="en-US" sz="1600" b="0" dirty="0" err="1">
                <a:latin typeface="Arial" charset="0"/>
                <a:cs typeface="Arial" charset="0"/>
              </a:rPr>
              <a:t>epochs_run</a:t>
            </a:r>
            <a:r>
              <a:rPr lang="en-US" sz="1600" b="0" dirty="0">
                <a:latin typeface="Arial" charset="0"/>
                <a:cs typeface="Arial" charset="0"/>
              </a:rPr>
              <a:t>, </a:t>
            </a:r>
            <a:r>
              <a:rPr lang="en-US" sz="1600" b="0" dirty="0" err="1">
                <a:latin typeface="Arial" charset="0"/>
                <a:cs typeface="Arial" charset="0"/>
              </a:rPr>
              <a:t>best_epoch</a:t>
            </a:r>
            <a:r>
              <a:rPr lang="en-US" sz="1600" b="0" dirty="0">
                <a:latin typeface="Arial" charset="0"/>
                <a:cs typeface="Arial" charset="0"/>
              </a:rPr>
              <a:t>, </a:t>
            </a:r>
            <a:r>
              <a:rPr lang="en-US" sz="1600" b="0" dirty="0" err="1">
                <a:latin typeface="Arial" charset="0"/>
                <a:cs typeface="Arial" charset="0"/>
              </a:rPr>
              <a:t>loss_history</a:t>
            </a:r>
            <a:r>
              <a:rPr lang="en-US" sz="1600" b="0" dirty="0">
                <a:latin typeface="Arial" charset="0"/>
                <a:cs typeface="Arial" charset="0"/>
              </a:rPr>
              <a:t>, </a:t>
            </a:r>
            <a:r>
              <a:rPr lang="en-US" sz="1600" b="0" dirty="0" err="1">
                <a:latin typeface="Arial" charset="0"/>
                <a:cs typeface="Arial" charset="0"/>
              </a:rPr>
              <a:t>val_loss_history</a:t>
            </a:r>
            <a:r>
              <a:rPr lang="en-US" sz="1600" b="0" dirty="0">
                <a:latin typeface="Arial" charset="0"/>
                <a:cs typeface="Arial" charset="0"/>
              </a:rPr>
              <a:t>)</a:t>
            </a:r>
            <a:br>
              <a:rPr lang="es-CO" sz="1600" b="0" dirty="0">
                <a:latin typeface="Arial" charset="0"/>
                <a:cs typeface="Arial" charset="0"/>
              </a:rPr>
            </a:br>
            <a:endParaRPr lang="es-CO" sz="1600" b="0" dirty="0">
              <a:latin typeface="Arial" charset="0"/>
              <a:cs typeface="Arial" charset="0"/>
            </a:endParaRPr>
          </a:p>
          <a:p>
            <a:br>
              <a:rPr lang="es-CO" sz="1600" b="0" dirty="0">
                <a:latin typeface="Arial" charset="0"/>
                <a:cs typeface="Arial" charset="0"/>
              </a:rPr>
            </a:br>
            <a:endParaRPr lang="es-CO" altLang="es-CO" sz="1600" b="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84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5A64A-FE20-029D-C8B7-692D2207E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3DF2B21-DAB3-AB93-D6A6-AF79F7F38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5A14C184-FE17-4DDB-42C9-1F517F4106D8}"/>
              </a:ext>
            </a:extLst>
          </p:cNvPr>
          <p:cNvSpPr/>
          <p:nvPr/>
        </p:nvSpPr>
        <p:spPr>
          <a:xfrm>
            <a:off x="877078" y="583285"/>
            <a:ext cx="76256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Modelo Clásico 1 — LSTM Unidireccional </a:t>
            </a:r>
            <a:endParaRPr lang="es-ES_tradnl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F9C8900-793E-EBD8-E4BA-5296782D8E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82248"/>
              </p:ext>
            </p:extLst>
          </p:nvPr>
        </p:nvGraphicFramePr>
        <p:xfrm>
          <a:off x="1012682" y="2009208"/>
          <a:ext cx="9792167" cy="1524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763705">
                  <a:extLst>
                    <a:ext uri="{9D8B030D-6E8A-4147-A177-3AD203B41FA5}">
                      <a16:colId xmlns:a16="http://schemas.microsoft.com/office/drawing/2014/main" val="4228599379"/>
                    </a:ext>
                  </a:extLst>
                </a:gridCol>
                <a:gridCol w="1663413">
                  <a:extLst>
                    <a:ext uri="{9D8B030D-6E8A-4147-A177-3AD203B41FA5}">
                      <a16:colId xmlns:a16="http://schemas.microsoft.com/office/drawing/2014/main" val="4265681645"/>
                    </a:ext>
                  </a:extLst>
                </a:gridCol>
                <a:gridCol w="2279608">
                  <a:extLst>
                    <a:ext uri="{9D8B030D-6E8A-4147-A177-3AD203B41FA5}">
                      <a16:colId xmlns:a16="http://schemas.microsoft.com/office/drawing/2014/main" val="1293582237"/>
                    </a:ext>
                  </a:extLst>
                </a:gridCol>
                <a:gridCol w="5085441">
                  <a:extLst>
                    <a:ext uri="{9D8B030D-6E8A-4147-A177-3AD203B41FA5}">
                      <a16:colId xmlns:a16="http://schemas.microsoft.com/office/drawing/2014/main" val="29151960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Capa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Tipo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Dimensiones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63678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Embedding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20,002 × 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Entrenables desde cero. padding_idx=0 para ignorar tokens de relleno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097924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LSTM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 → 128 (1 capa)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Unidireccional. Se toma el hidden state del último token no-padding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179560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Linear + ReLU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 → 64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Capa de reducción con activación ReLU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7985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Dropout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p=0.3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Regularización para prevenir overfitting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11060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Linear (logits)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64 → 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Capa de clasificación final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4175328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ECBF916-2564-0D3B-6E16-D2B78DE4B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8460"/>
              </p:ext>
            </p:extLst>
          </p:nvPr>
        </p:nvGraphicFramePr>
        <p:xfrm>
          <a:off x="1012681" y="3733298"/>
          <a:ext cx="9792168" cy="2794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4896084">
                  <a:extLst>
                    <a:ext uri="{9D8B030D-6E8A-4147-A177-3AD203B41FA5}">
                      <a16:colId xmlns:a16="http://schemas.microsoft.com/office/drawing/2014/main" val="3188416917"/>
                    </a:ext>
                  </a:extLst>
                </a:gridCol>
                <a:gridCol w="4896084">
                  <a:extLst>
                    <a:ext uri="{9D8B030D-6E8A-4147-A177-3AD203B41FA5}">
                      <a16:colId xmlns:a16="http://schemas.microsoft.com/office/drawing/2014/main" val="21553802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Hiperparámetro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Valor (versión definitiva)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684361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Embedding dim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40633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Hidden </a:t>
                      </a:r>
                      <a:r>
                        <a:rPr lang="es-CO" sz="1000" dirty="0" err="1">
                          <a:effectLst/>
                        </a:rPr>
                        <a:t>size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265269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Dropout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42232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Learning rate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3e-4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9188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MAX_LEN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150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87636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Class weights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No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131631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Épocas ejecutadas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777247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Mejor época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1863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Tiempo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321.2 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177769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Parámetros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2,700,933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868292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2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53475-B41F-601F-C8AF-5A2C9C6E3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F6E331B-5413-9C62-55A7-01243B9A6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FC2E64D1-AA65-F47B-C67A-6F1E1558775A}"/>
              </a:ext>
            </a:extLst>
          </p:cNvPr>
          <p:cNvSpPr/>
          <p:nvPr/>
        </p:nvSpPr>
        <p:spPr>
          <a:xfrm>
            <a:off x="877078" y="583285"/>
            <a:ext cx="762565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Modelo Clásico 1 — LSTM Unidireccional </a:t>
            </a:r>
            <a:endParaRPr lang="es-ES_tradnl" sz="24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pic>
        <p:nvPicPr>
          <p:cNvPr id="2" name="image4.png" descr="Figura 10. Curvas de entrenamiento LSTM v3 (versión definitiva, lr=3e-4, MAX_LEN=150). El val_loss se estabiliza alrededor de la época 19.">
            <a:extLst>
              <a:ext uri="{FF2B5EF4-FFF2-40B4-BE49-F238E27FC236}">
                <a16:creationId xmlns:a16="http://schemas.microsoft.com/office/drawing/2014/main" id="{FF025C04-5BCD-C681-30AD-F08218011797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86848" y="1552621"/>
            <a:ext cx="7551233" cy="3088389"/>
          </a:xfrm>
          <a:prstGeom prst="rect">
            <a:avLst/>
          </a:prstGeom>
          <a:ln/>
        </p:spPr>
      </p:pic>
      <p:pic>
        <p:nvPicPr>
          <p:cNvPr id="6" name="image10.png" descr="Figura 11. Matriz de confusión LSTM v3. El modelo clasifica bien 1★ y 5★ pero presenta F1≈0 en clase 4★ (casi todo predito como 5★).">
            <a:extLst>
              <a:ext uri="{FF2B5EF4-FFF2-40B4-BE49-F238E27FC236}">
                <a16:creationId xmlns:a16="http://schemas.microsoft.com/office/drawing/2014/main" id="{69B637E7-7EFC-5CAB-220B-BE4DA491F332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8124929" y="1667053"/>
            <a:ext cx="3848535" cy="358643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805762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3DEF-100D-7D7C-A3D9-5384CCBB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E9CAA78-5BE0-0C13-2E5F-981D55D20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F8CA2345-4A9A-D28D-5A8A-CC8B53B0AD7B}"/>
              </a:ext>
            </a:extLst>
          </p:cNvPr>
          <p:cNvSpPr/>
          <p:nvPr/>
        </p:nvSpPr>
        <p:spPr>
          <a:xfrm>
            <a:off x="1341913" y="583285"/>
            <a:ext cx="71608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Modelo Clásico 2 — </a:t>
            </a:r>
            <a:r>
              <a:rPr lang="es-CO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BiLSTM</a:t>
            </a:r>
            <a:r>
              <a:rPr lang="es-CO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Bidireccional</a:t>
            </a:r>
          </a:p>
          <a:p>
            <a:pPr algn="ctr"/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63B53EF-2FDA-C96A-18DE-59192D0A4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90957"/>
              </p:ext>
            </p:extLst>
          </p:nvPr>
        </p:nvGraphicFramePr>
        <p:xfrm>
          <a:off x="928706" y="1517517"/>
          <a:ext cx="10585270" cy="1524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25561">
                  <a:extLst>
                    <a:ext uri="{9D8B030D-6E8A-4147-A177-3AD203B41FA5}">
                      <a16:colId xmlns:a16="http://schemas.microsoft.com/office/drawing/2014/main" val="3087853795"/>
                    </a:ext>
                  </a:extLst>
                </a:gridCol>
                <a:gridCol w="1798139">
                  <a:extLst>
                    <a:ext uri="{9D8B030D-6E8A-4147-A177-3AD203B41FA5}">
                      <a16:colId xmlns:a16="http://schemas.microsoft.com/office/drawing/2014/main" val="104889297"/>
                    </a:ext>
                  </a:extLst>
                </a:gridCol>
                <a:gridCol w="2464242">
                  <a:extLst>
                    <a:ext uri="{9D8B030D-6E8A-4147-A177-3AD203B41FA5}">
                      <a16:colId xmlns:a16="http://schemas.microsoft.com/office/drawing/2014/main" val="2686874604"/>
                    </a:ext>
                  </a:extLst>
                </a:gridCol>
                <a:gridCol w="5497328">
                  <a:extLst>
                    <a:ext uri="{9D8B030D-6E8A-4147-A177-3AD203B41FA5}">
                      <a16:colId xmlns:a16="http://schemas.microsoft.com/office/drawing/2014/main" val="1451585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Capa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Tipo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Dimensiones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Descripción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30783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Embedding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20,002 × 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Entrenables. padding_idx=0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43011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 → 256 (128×2, 2 capas)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Bidireccional. dropout=0.4 entre capas LSTM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165410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Global Max Pooling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256 → 256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Máximo en dimensión temporal. Captura rasgos activados en cualquier posición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9240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Dropout + Linear + ReLU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256 → 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Reducción con regularización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20895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Linear (logits)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 → 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Clasificación final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24697887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89C95455-F1DB-43C0-A6C5-D5B59731E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182683"/>
              </p:ext>
            </p:extLst>
          </p:nvPr>
        </p:nvGraphicFramePr>
        <p:xfrm>
          <a:off x="928706" y="3198656"/>
          <a:ext cx="10585270" cy="3556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5292635">
                  <a:extLst>
                    <a:ext uri="{9D8B030D-6E8A-4147-A177-3AD203B41FA5}">
                      <a16:colId xmlns:a16="http://schemas.microsoft.com/office/drawing/2014/main" val="3031796629"/>
                    </a:ext>
                  </a:extLst>
                </a:gridCol>
                <a:gridCol w="5292635">
                  <a:extLst>
                    <a:ext uri="{9D8B030D-6E8A-4147-A177-3AD203B41FA5}">
                      <a16:colId xmlns:a16="http://schemas.microsoft.com/office/drawing/2014/main" val="1179631950"/>
                    </a:ext>
                  </a:extLst>
                </a:gridCol>
              </a:tblGrid>
              <a:tr h="2272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Hiperparámetro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Valor (versión definitiva)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241710372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Embedding dim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32359686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Hidden </a:t>
                      </a:r>
                      <a:r>
                        <a:rPr lang="es-CO" sz="1000" dirty="0" err="1">
                          <a:effectLst/>
                        </a:rPr>
                        <a:t>size</a:t>
                      </a:r>
                      <a:r>
                        <a:rPr lang="es-CO" sz="1000" dirty="0">
                          <a:effectLst/>
                        </a:rPr>
                        <a:t> por dirección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128 (256 total)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527750825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N° capas BiLSTM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606418176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Dropout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64082445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Learning rate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1e-3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929148723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Weight decay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1e-5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07208783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LR Scheduler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ReduceLROnPlateau (factor=0.5, patience=2)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982960617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Class weights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No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267839578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MAX_LEN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200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882092263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Épocas ejecutadas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713364766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Mejor época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779975284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Tiempo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27,685.9 s (CPU)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09485313"/>
                  </a:ext>
                </a:extLst>
              </a:tr>
              <a:tr h="227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>
                          <a:effectLst/>
                        </a:rPr>
                        <a:t>Parámetros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3,253,253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2232945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0146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C180-B4EC-F1E2-6A55-FD9B7CC6C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9BBC073-E381-919D-6907-CDFDF28A2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2D1FD917-A91B-F9AB-031A-C0D0F184721B}"/>
              </a:ext>
            </a:extLst>
          </p:cNvPr>
          <p:cNvSpPr/>
          <p:nvPr/>
        </p:nvSpPr>
        <p:spPr>
          <a:xfrm>
            <a:off x="1341913" y="583285"/>
            <a:ext cx="71608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Modelo Clásico 2 — </a:t>
            </a:r>
            <a:r>
              <a:rPr lang="es-CO" sz="24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BiLSTM</a:t>
            </a:r>
            <a:r>
              <a:rPr lang="es-CO" sz="2400" b="1" dirty="0">
                <a:solidFill>
                  <a:schemeClr val="bg1"/>
                </a:solidFill>
                <a:latin typeface="Arial" charset="0"/>
                <a:cs typeface="Arial" charset="0"/>
              </a:rPr>
              <a:t> Bidireccional</a:t>
            </a:r>
          </a:p>
          <a:p>
            <a:pPr algn="ctr"/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pic>
        <p:nvPicPr>
          <p:cNvPr id="2" name="image9.png" descr="Figura 16. Matriz de confusión BiLSTM v2 (con class weights). Clase 2★ mejora a 86 correctas. Trade-off: clase 5★ baja de 1,058 a 964.">
            <a:extLst>
              <a:ext uri="{FF2B5EF4-FFF2-40B4-BE49-F238E27FC236}">
                <a16:creationId xmlns:a16="http://schemas.microsoft.com/office/drawing/2014/main" id="{0BC06C7C-7B7D-EB6E-7FE6-DB07B30B131E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7703678" y="2085235"/>
            <a:ext cx="4174490" cy="3757295"/>
          </a:xfrm>
          <a:prstGeom prst="rect">
            <a:avLst/>
          </a:prstGeom>
          <a:ln/>
        </p:spPr>
      </p:pic>
      <p:pic>
        <p:nvPicPr>
          <p:cNvPr id="6" name="image14.png" descr="Figura 14. Curvas BiLSTM v2 (con class weights, versión definitiva). Convergencia más lenta pero mejor F1 macro.">
            <a:extLst>
              <a:ext uri="{FF2B5EF4-FFF2-40B4-BE49-F238E27FC236}">
                <a16:creationId xmlns:a16="http://schemas.microsoft.com/office/drawing/2014/main" id="{F92D8672-D88F-11E3-7B08-E99A044C38A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341913" y="2855069"/>
            <a:ext cx="5524500" cy="183832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2770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076E4-7081-D38A-7821-7C0C7C8F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5207CC2-4F0F-5662-00E6-9995FD8AA9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3568D1F6-F3CF-BFCC-6ABE-E614EA32DEF4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Modelo Nuevo/Combinado 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DE27FA55-E807-20EA-E10E-ADCC3EAAD3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214499"/>
              </p:ext>
            </p:extLst>
          </p:nvPr>
        </p:nvGraphicFramePr>
        <p:xfrm>
          <a:off x="576943" y="2321637"/>
          <a:ext cx="11038113" cy="36728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3014816">
                  <a:extLst>
                    <a:ext uri="{9D8B030D-6E8A-4147-A177-3AD203B41FA5}">
                      <a16:colId xmlns:a16="http://schemas.microsoft.com/office/drawing/2014/main" val="3438557522"/>
                    </a:ext>
                  </a:extLst>
                </a:gridCol>
                <a:gridCol w="2528554">
                  <a:extLst>
                    <a:ext uri="{9D8B030D-6E8A-4147-A177-3AD203B41FA5}">
                      <a16:colId xmlns:a16="http://schemas.microsoft.com/office/drawing/2014/main" val="1120863174"/>
                    </a:ext>
                  </a:extLst>
                </a:gridCol>
                <a:gridCol w="2528554">
                  <a:extLst>
                    <a:ext uri="{9D8B030D-6E8A-4147-A177-3AD203B41FA5}">
                      <a16:colId xmlns:a16="http://schemas.microsoft.com/office/drawing/2014/main" val="1923506569"/>
                    </a:ext>
                  </a:extLst>
                </a:gridCol>
                <a:gridCol w="2966189">
                  <a:extLst>
                    <a:ext uri="{9D8B030D-6E8A-4147-A177-3AD203B41FA5}">
                      <a16:colId xmlns:a16="http://schemas.microsoft.com/office/drawing/2014/main" val="2969431967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dirty="0" err="1">
                          <a:effectLst/>
                        </a:rPr>
                        <a:t>Hiperparámetro</a:t>
                      </a:r>
                      <a:endParaRPr lang="es-CO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BiLSTM</a:t>
                      </a:r>
                      <a:r>
                        <a:rPr lang="es-CO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Atención de </a:t>
                      </a:r>
                      <a:r>
                        <a:rPr lang="es-CO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Bahdanau</a:t>
                      </a:r>
                      <a:endParaRPr lang="es-CO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GRU + Atención de </a:t>
                      </a:r>
                      <a:r>
                        <a:rPr lang="es-CO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Bahdanau</a:t>
                      </a:r>
                      <a:endParaRPr lang="es-CO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BiLSTM</a:t>
                      </a:r>
                      <a:r>
                        <a:rPr lang="en-US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+ Multi-Head Attention </a:t>
                      </a:r>
                      <a:endParaRPr lang="es-CO" sz="1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5400091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 dirty="0">
                          <a:effectLst/>
                        </a:rPr>
                        <a:t>Celda recurrente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BiLSTM (2 capas)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dirty="0">
                          <a:effectLst/>
                        </a:rPr>
                        <a:t>GRU (2 capas)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BiLSTM (2 capas)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034171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Hidden size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256 por dirección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dirty="0">
                          <a:effectLst/>
                        </a:rPr>
                        <a:t>256 por dirección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256 por dirección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1690854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Mecanismo atención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Bahdanau (aditiva)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Bahdanau (aditiva)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Multi-Head Attention (4 cabezas)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142367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Dropout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0.3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0.3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0.4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67600904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Class weights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Sí (balanced)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Sí (balanced)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Sí (balanced)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0553695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Épocas ejecutadas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9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9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16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8176138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Mejor época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4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4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11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579092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Tiempo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129.3 s (GPU)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119.4 s (GPU)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303.8 s (GPU)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26932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Parámetros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5,191,685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4,599,813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6,110,981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998679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F1 macro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0.5740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0.5785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0.6193 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295384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Accuracy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0.6471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>
                          <a:effectLst/>
                        </a:rPr>
                        <a:t>0.6416</a:t>
                      </a:r>
                      <a:endParaRPr lang="es-CO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CO" sz="1000" u="none" strike="noStrike" dirty="0">
                          <a:effectLst/>
                        </a:rPr>
                        <a:t>0.6548</a:t>
                      </a:r>
                      <a:endParaRPr lang="es-CO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48267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946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9249A-CF55-4C4B-9C09-37842153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5DEA41B-7B91-3ABC-5F9E-438AA02818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3EF4E080-9973-A691-5174-1D57098A6266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ctr">
              <a:buNone/>
            </a:pPr>
            <a:r>
              <a:rPr lang="en-US" sz="30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BiLSTM</a:t>
            </a:r>
            <a:r>
              <a:rPr lang="en-US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 + Multi-Head Attention </a:t>
            </a:r>
            <a:endParaRPr lang="es-CO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pic>
        <p:nvPicPr>
          <p:cNvPr id="2" name="image12.png" descr="Figura 21. Curvas BiLSTM+MultiHead. Más épocas de entrenamiento (mejor en época 11). El scheduler reduce LR y permite continuar mejorando.">
            <a:extLst>
              <a:ext uri="{FF2B5EF4-FFF2-40B4-BE49-F238E27FC236}">
                <a16:creationId xmlns:a16="http://schemas.microsoft.com/office/drawing/2014/main" id="{57BFA56A-B98B-E7E2-52AD-E0BAC52D8D40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97243" y="2801177"/>
            <a:ext cx="6538038" cy="2398064"/>
          </a:xfrm>
          <a:prstGeom prst="rect">
            <a:avLst/>
          </a:prstGeom>
          <a:ln/>
        </p:spPr>
      </p:pic>
      <p:pic>
        <p:nvPicPr>
          <p:cNvPr id="5" name="image2.png" descr="Figura 22. Matriz de confusión BiLSTM+MultiHead. MEJOR modelo del proyecto: F1 macro=0.6193. Clase 2★: 101 correctas (mejor de todos los modelos).">
            <a:extLst>
              <a:ext uri="{FF2B5EF4-FFF2-40B4-BE49-F238E27FC236}">
                <a16:creationId xmlns:a16="http://schemas.microsoft.com/office/drawing/2014/main" id="{12168F98-6A6C-4144-91DF-4428A4A2BEA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7582077" y="2197252"/>
            <a:ext cx="4072255" cy="36652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47920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ACC30-1494-919C-4ED3-7ADEB79FF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B42D9C6-AFDF-E99B-B286-014B30E117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911D300B-A941-1237-F0C6-984B4235EA5D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Resultados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77F21D5-25FF-B8B5-B031-CCA3D1A00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174128"/>
              </p:ext>
            </p:extLst>
          </p:nvPr>
        </p:nvGraphicFramePr>
        <p:xfrm>
          <a:off x="478971" y="1905000"/>
          <a:ext cx="11234057" cy="15240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481616">
                  <a:extLst>
                    <a:ext uri="{9D8B030D-6E8A-4147-A177-3AD203B41FA5}">
                      <a16:colId xmlns:a16="http://schemas.microsoft.com/office/drawing/2014/main" val="697720010"/>
                    </a:ext>
                  </a:extLst>
                </a:gridCol>
                <a:gridCol w="2412904">
                  <a:extLst>
                    <a:ext uri="{9D8B030D-6E8A-4147-A177-3AD203B41FA5}">
                      <a16:colId xmlns:a16="http://schemas.microsoft.com/office/drawing/2014/main" val="568812250"/>
                    </a:ext>
                  </a:extLst>
                </a:gridCol>
                <a:gridCol w="1319310">
                  <a:extLst>
                    <a:ext uri="{9D8B030D-6E8A-4147-A177-3AD203B41FA5}">
                      <a16:colId xmlns:a16="http://schemas.microsoft.com/office/drawing/2014/main" val="3031935264"/>
                    </a:ext>
                  </a:extLst>
                </a:gridCol>
                <a:gridCol w="1377248">
                  <a:extLst>
                    <a:ext uri="{9D8B030D-6E8A-4147-A177-3AD203B41FA5}">
                      <a16:colId xmlns:a16="http://schemas.microsoft.com/office/drawing/2014/main" val="2838002772"/>
                    </a:ext>
                  </a:extLst>
                </a:gridCol>
                <a:gridCol w="1319310">
                  <a:extLst>
                    <a:ext uri="{9D8B030D-6E8A-4147-A177-3AD203B41FA5}">
                      <a16:colId xmlns:a16="http://schemas.microsoft.com/office/drawing/2014/main" val="3837687401"/>
                    </a:ext>
                  </a:extLst>
                </a:gridCol>
                <a:gridCol w="1319310">
                  <a:extLst>
                    <a:ext uri="{9D8B030D-6E8A-4147-A177-3AD203B41FA5}">
                      <a16:colId xmlns:a16="http://schemas.microsoft.com/office/drawing/2014/main" val="4141986727"/>
                    </a:ext>
                  </a:extLst>
                </a:gridCol>
                <a:gridCol w="1798512">
                  <a:extLst>
                    <a:ext uri="{9D8B030D-6E8A-4147-A177-3AD203B41FA5}">
                      <a16:colId xmlns:a16="http://schemas.microsoft.com/office/drawing/2014/main" val="2481374002"/>
                    </a:ext>
                  </a:extLst>
                </a:gridCol>
                <a:gridCol w="1205847">
                  <a:extLst>
                    <a:ext uri="{9D8B030D-6E8A-4147-A177-3AD203B41FA5}">
                      <a16:colId xmlns:a16="http://schemas.microsoft.com/office/drawing/2014/main" val="9574702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#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Modelo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F1 macro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Accuracy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Prec M.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Recall M.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Params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Tiempo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740006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BiLSTM+MultiHead ✓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0.6193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0.6548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0.6086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0.6454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6,110,981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303.8s GPU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5945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GRU+Bahdanau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0.5785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0.6416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0.5757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0.6024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4,599,813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119.4s GPU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358636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BiLSTM+Bahdanau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0.5740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0.6471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0.5836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0.5842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5,191,685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129.3s GPU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04839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 v1 ✓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0.5749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0.6871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0.5870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0.6251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3,253,253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27,686s CPU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08219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LSTM v3 ✓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0.3996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0.6042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0.5639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0.4408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2,700,933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321.2s CPU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677909664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928700B-8A9D-0DF0-98B2-9551BD189E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154749"/>
              </p:ext>
            </p:extLst>
          </p:nvPr>
        </p:nvGraphicFramePr>
        <p:xfrm>
          <a:off x="478971" y="4249447"/>
          <a:ext cx="11234058" cy="17932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07731">
                  <a:extLst>
                    <a:ext uri="{9D8B030D-6E8A-4147-A177-3AD203B41FA5}">
                      <a16:colId xmlns:a16="http://schemas.microsoft.com/office/drawing/2014/main" val="1221270368"/>
                    </a:ext>
                  </a:extLst>
                </a:gridCol>
                <a:gridCol w="1259566">
                  <a:extLst>
                    <a:ext uri="{9D8B030D-6E8A-4147-A177-3AD203B41FA5}">
                      <a16:colId xmlns:a16="http://schemas.microsoft.com/office/drawing/2014/main" val="2925666251"/>
                    </a:ext>
                  </a:extLst>
                </a:gridCol>
                <a:gridCol w="999208">
                  <a:extLst>
                    <a:ext uri="{9D8B030D-6E8A-4147-A177-3AD203B41FA5}">
                      <a16:colId xmlns:a16="http://schemas.microsoft.com/office/drawing/2014/main" val="2764978955"/>
                    </a:ext>
                  </a:extLst>
                </a:gridCol>
                <a:gridCol w="1155188">
                  <a:extLst>
                    <a:ext uri="{9D8B030D-6E8A-4147-A177-3AD203B41FA5}">
                      <a16:colId xmlns:a16="http://schemas.microsoft.com/office/drawing/2014/main" val="3132526804"/>
                    </a:ext>
                  </a:extLst>
                </a:gridCol>
                <a:gridCol w="2425308">
                  <a:extLst>
                    <a:ext uri="{9D8B030D-6E8A-4147-A177-3AD203B41FA5}">
                      <a16:colId xmlns:a16="http://schemas.microsoft.com/office/drawing/2014/main" val="2283288806"/>
                    </a:ext>
                  </a:extLst>
                </a:gridCol>
                <a:gridCol w="2074648">
                  <a:extLst>
                    <a:ext uri="{9D8B030D-6E8A-4147-A177-3AD203B41FA5}">
                      <a16:colId xmlns:a16="http://schemas.microsoft.com/office/drawing/2014/main" val="1210676531"/>
                    </a:ext>
                  </a:extLst>
                </a:gridCol>
                <a:gridCol w="2412409">
                  <a:extLst>
                    <a:ext uri="{9D8B030D-6E8A-4147-A177-3AD203B41FA5}">
                      <a16:colId xmlns:a16="http://schemas.microsoft.com/office/drawing/2014/main" val="9111750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Clase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Estrellas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LSTM v3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 v1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BiLSTM+Bahdanau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GRU+Bahdanau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BiLSTM+MultiHead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346555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1 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0.686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0.716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0.687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0.723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0.756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085540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2 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0.168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0.202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0.433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0.436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0.533 ✓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02939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3 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0.359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0.564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0.479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0.457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0.549 ✓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423343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4 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0.022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0.478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0.492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0.480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56078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>
                          <a:effectLst/>
                        </a:rPr>
                        <a:t>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5 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0.764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0.821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0.793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0.784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0.778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196300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F1 MACRO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0.3996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0.5749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0.5740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>
                          <a:effectLst/>
                        </a:rPr>
                        <a:t>0.5785</a:t>
                      </a:r>
                      <a:endParaRPr lang="es-CO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000" dirty="0">
                          <a:effectLst/>
                        </a:rPr>
                        <a:t>0.6193 ✓</a:t>
                      </a:r>
                      <a:endParaRPr lang="es-CO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3346033810"/>
                  </a:ext>
                </a:extLst>
              </a:tr>
            </a:tbl>
          </a:graphicData>
        </a:graphic>
      </p:graphicFrame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E40CA69-CEFF-62CE-8F81-DD61F7FA20B9}"/>
              </a:ext>
            </a:extLst>
          </p:cNvPr>
          <p:cNvSpPr/>
          <p:nvPr/>
        </p:nvSpPr>
        <p:spPr>
          <a:xfrm>
            <a:off x="4159898" y="3745916"/>
            <a:ext cx="3872204" cy="284908"/>
          </a:xfrm>
          <a:prstGeom prst="round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F1-Score por Clase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92840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354C-5EE6-E7AD-0808-266303004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988833C6-1271-F306-5F00-DBB413CE5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178BD7BE-EED2-9207-2F25-C84E1DD81775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BETO Fine-Tuning 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A85CC0A-16CC-5EAA-811C-9402D83E06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051" y="1815516"/>
            <a:ext cx="5397296" cy="42614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r>
              <a:rPr lang="es-CO" sz="1600" dirty="0">
                <a:solidFill>
                  <a:srgbClr val="FFC000"/>
                </a:solidFill>
                <a:latin typeface="Arial" charset="0"/>
                <a:cs typeface="Arial" charset="0"/>
              </a:rPr>
              <a:t>Modelo y estrategia de fine-</a:t>
            </a:r>
            <a:r>
              <a:rPr lang="es-CO" sz="1600" dirty="0" err="1">
                <a:solidFill>
                  <a:srgbClr val="FFC000"/>
                </a:solidFill>
                <a:latin typeface="Arial" charset="0"/>
                <a:cs typeface="Arial" charset="0"/>
              </a:rPr>
              <a:t>tuning</a:t>
            </a:r>
            <a:endParaRPr lang="es-CO" sz="1600" dirty="0">
              <a:solidFill>
                <a:srgbClr val="FFC000"/>
              </a:solidFill>
              <a:latin typeface="Arial" charset="0"/>
              <a:cs typeface="Arial" charset="0"/>
            </a:endParaRPr>
          </a:p>
          <a:p>
            <a:r>
              <a:rPr lang="es-CO" sz="1600" b="0" dirty="0">
                <a:latin typeface="Arial" charset="0"/>
                <a:cs typeface="Arial" charset="0"/>
              </a:rPr>
              <a:t>•  Modelo base: </a:t>
            </a:r>
            <a:r>
              <a:rPr lang="es-CO" sz="1600" b="0" dirty="0" err="1">
                <a:latin typeface="Arial" charset="0"/>
                <a:cs typeface="Arial" charset="0"/>
              </a:rPr>
              <a:t>dccuchile</a:t>
            </a:r>
            <a:r>
              <a:rPr lang="es-CO" sz="1600" b="0" dirty="0">
                <a:latin typeface="Arial" charset="0"/>
                <a:cs typeface="Arial" charset="0"/>
              </a:rPr>
              <a:t>/</a:t>
            </a:r>
            <a:r>
              <a:rPr lang="es-CO" sz="1600" b="0" dirty="0" err="1">
                <a:latin typeface="Arial" charset="0"/>
                <a:cs typeface="Arial" charset="0"/>
              </a:rPr>
              <a:t>bert</a:t>
            </a:r>
            <a:r>
              <a:rPr lang="es-CO" sz="1600" b="0" dirty="0">
                <a:latin typeface="Arial" charset="0"/>
                <a:cs typeface="Arial" charset="0"/>
              </a:rPr>
              <a:t>-base-</a:t>
            </a:r>
            <a:r>
              <a:rPr lang="es-CO" sz="1600" b="0" dirty="0" err="1">
                <a:latin typeface="Arial" charset="0"/>
                <a:cs typeface="Arial" charset="0"/>
              </a:rPr>
              <a:t>spanish</a:t>
            </a:r>
            <a:r>
              <a:rPr lang="es-CO" sz="1600" b="0" dirty="0">
                <a:latin typeface="Arial" charset="0"/>
                <a:cs typeface="Arial" charset="0"/>
              </a:rPr>
              <a:t>-</a:t>
            </a:r>
            <a:r>
              <a:rPr lang="es-CO" sz="1600" b="0" dirty="0" err="1">
                <a:latin typeface="Arial" charset="0"/>
                <a:cs typeface="Arial" charset="0"/>
              </a:rPr>
              <a:t>wwm-cased</a:t>
            </a:r>
            <a:r>
              <a:rPr lang="es-CO" sz="1600" b="0" dirty="0">
                <a:latin typeface="Arial" charset="0"/>
                <a:cs typeface="Arial" charset="0"/>
              </a:rPr>
              <a:t> (BETO)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 Estrategia </a:t>
            </a:r>
            <a:r>
              <a:rPr lang="es-CO" sz="1600" b="0" dirty="0" err="1">
                <a:latin typeface="Arial" charset="0"/>
                <a:cs typeface="Arial" charset="0"/>
              </a:rPr>
              <a:t>partial</a:t>
            </a:r>
            <a:r>
              <a:rPr lang="es-CO" sz="1600" b="0" dirty="0">
                <a:latin typeface="Arial" charset="0"/>
                <a:cs typeface="Arial" charset="0"/>
              </a:rPr>
              <a:t> fine-</a:t>
            </a:r>
            <a:r>
              <a:rPr lang="es-CO" sz="1600" b="0" dirty="0" err="1">
                <a:latin typeface="Arial" charset="0"/>
                <a:cs typeface="Arial" charset="0"/>
              </a:rPr>
              <a:t>tuning</a:t>
            </a:r>
            <a:r>
              <a:rPr lang="es-CO" sz="1600" b="0" dirty="0">
                <a:latin typeface="Arial" charset="0"/>
                <a:cs typeface="Arial" charset="0"/>
              </a:rPr>
              <a:t>: se congelaron capas 0-8 y se descongelaron encoder.layer.9, 10, 11 + </a:t>
            </a:r>
            <a:r>
              <a:rPr lang="es-CO" sz="1600" b="0" dirty="0" err="1">
                <a:latin typeface="Arial" charset="0"/>
                <a:cs typeface="Arial" charset="0"/>
              </a:rPr>
              <a:t>pooler</a:t>
            </a:r>
            <a:r>
              <a:rPr lang="es-CO" sz="1600" b="0" dirty="0">
                <a:latin typeface="Arial" charset="0"/>
                <a:cs typeface="Arial" charset="0"/>
              </a:rPr>
              <a:t> + </a:t>
            </a:r>
            <a:r>
              <a:rPr lang="es-CO" sz="1600" b="0" dirty="0" err="1">
                <a:latin typeface="Arial" charset="0"/>
                <a:cs typeface="Arial" charset="0"/>
              </a:rPr>
              <a:t>classifier</a:t>
            </a:r>
            <a:endParaRPr lang="es-CO" sz="1600" b="0" dirty="0">
              <a:latin typeface="Arial" charset="0"/>
              <a:cs typeface="Arial" charset="0"/>
            </a:endParaRPr>
          </a:p>
          <a:p>
            <a:r>
              <a:rPr lang="es-CO" sz="1600" b="0" dirty="0">
                <a:latin typeface="Arial" charset="0"/>
                <a:cs typeface="Arial" charset="0"/>
              </a:rPr>
              <a:t>•  Capas descongeladas: 19.9% de los parámetros totales (21,858,053 de 109,854,725)</a:t>
            </a:r>
          </a:p>
          <a:p>
            <a:r>
              <a:rPr lang="es-CO" sz="1600" b="0" dirty="0">
                <a:latin typeface="Arial" charset="0"/>
                <a:cs typeface="Arial" charset="0"/>
              </a:rPr>
              <a:t>•  Justificación: evitar </a:t>
            </a:r>
            <a:r>
              <a:rPr lang="es-CO" sz="1600" b="0" dirty="0" err="1">
                <a:latin typeface="Arial" charset="0"/>
                <a:cs typeface="Arial" charset="0"/>
              </a:rPr>
              <a:t>catastrophic</a:t>
            </a:r>
            <a:r>
              <a:rPr lang="es-CO" sz="1600" b="0" dirty="0">
                <a:latin typeface="Arial" charset="0"/>
                <a:cs typeface="Arial" charset="0"/>
              </a:rPr>
              <a:t> </a:t>
            </a:r>
            <a:r>
              <a:rPr lang="es-CO" sz="1600" b="0" dirty="0" err="1">
                <a:latin typeface="Arial" charset="0"/>
                <a:cs typeface="Arial" charset="0"/>
              </a:rPr>
              <a:t>forgetting</a:t>
            </a:r>
            <a:r>
              <a:rPr lang="es-CO" sz="1600" b="0" dirty="0">
                <a:latin typeface="Arial" charset="0"/>
                <a:cs typeface="Arial" charset="0"/>
              </a:rPr>
              <a:t> con </a:t>
            </a:r>
            <a:r>
              <a:rPr lang="es-CO" sz="1600" b="0" dirty="0" err="1">
                <a:latin typeface="Arial" charset="0"/>
                <a:cs typeface="Arial" charset="0"/>
              </a:rPr>
              <a:t>dataset</a:t>
            </a:r>
            <a:r>
              <a:rPr lang="es-CO" sz="1600" b="0" dirty="0">
                <a:latin typeface="Arial" charset="0"/>
                <a:cs typeface="Arial" charset="0"/>
              </a:rPr>
              <a:t> de 12,720 ejemplos</a:t>
            </a:r>
            <a:br>
              <a:rPr lang="es-CO" dirty="0"/>
            </a:br>
            <a:endParaRPr lang="es-CO" b="0" dirty="0"/>
          </a:p>
          <a:p>
            <a:br>
              <a:rPr lang="es-CO" dirty="0"/>
            </a:br>
            <a:endParaRPr lang="es-CO" altLang="es-CO" b="0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387F7776-2462-41AC-11C7-C3CD21A837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2192805"/>
              </p:ext>
            </p:extLst>
          </p:nvPr>
        </p:nvGraphicFramePr>
        <p:xfrm>
          <a:off x="7225443" y="1799203"/>
          <a:ext cx="4200506" cy="4066949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100253">
                  <a:extLst>
                    <a:ext uri="{9D8B030D-6E8A-4147-A177-3AD203B41FA5}">
                      <a16:colId xmlns:a16="http://schemas.microsoft.com/office/drawing/2014/main" val="431373997"/>
                    </a:ext>
                  </a:extLst>
                </a:gridCol>
                <a:gridCol w="2100253">
                  <a:extLst>
                    <a:ext uri="{9D8B030D-6E8A-4147-A177-3AD203B41FA5}">
                      <a16:colId xmlns:a16="http://schemas.microsoft.com/office/drawing/2014/main" val="3574612207"/>
                    </a:ext>
                  </a:extLst>
                </a:gridCol>
              </a:tblGrid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Hiperparámetro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Valor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90656746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Modelo base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effectLst/>
                        </a:rPr>
                        <a:t>bert-base-spanish-wwm-cased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62888910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Capas descongeladas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encoder.layer.9, 10, 11, pooler, classifier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014935410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Longitud máxima (tokens)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128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827251412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Batch size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32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974194417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Learning rate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Discriminativo: 2e-6 / 1e-5 / 2e-5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95259895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Weight decay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0,01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564967688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Épocas entrenadas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11 (early stop en 11, mejor=8)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408601610"/>
                  </a:ext>
                </a:extLst>
              </a:tr>
              <a:tr h="502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Warm-up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10 % de los pasos totales (scheduler lineal)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333225201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Función de pérdida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CrossEntropyLoss con sqrt(balanced) weights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42777747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Semilla aleatoria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42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83349036"/>
                  </a:ext>
                </a:extLst>
              </a:tr>
              <a:tr h="318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Entorno de ejecución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dirty="0">
                          <a:effectLst/>
                        </a:rPr>
                        <a:t>Google </a:t>
                      </a:r>
                      <a:r>
                        <a:rPr lang="es-CO" sz="900" dirty="0" err="1">
                          <a:effectLst/>
                        </a:rPr>
                        <a:t>Colab</a:t>
                      </a:r>
                      <a:r>
                        <a:rPr lang="es-CO" sz="900" dirty="0">
                          <a:effectLst/>
                        </a:rPr>
                        <a:t>, GPU Tesla T4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406394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592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22338-30AD-C084-2F3B-61572A06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00CCCDEE-D081-0C88-E02E-F046EF655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5971866D-6A3B-45C7-CC8E-D2C07010B879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BETO Fine-Tuning 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48F62C4-71DD-B419-3601-F6F2CEC96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640824"/>
              </p:ext>
            </p:extLst>
          </p:nvPr>
        </p:nvGraphicFramePr>
        <p:xfrm>
          <a:off x="365526" y="1696980"/>
          <a:ext cx="5730471" cy="136652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216895">
                  <a:extLst>
                    <a:ext uri="{9D8B030D-6E8A-4147-A177-3AD203B41FA5}">
                      <a16:colId xmlns:a16="http://schemas.microsoft.com/office/drawing/2014/main" val="4249928990"/>
                    </a:ext>
                  </a:extLst>
                </a:gridCol>
                <a:gridCol w="790982">
                  <a:extLst>
                    <a:ext uri="{9D8B030D-6E8A-4147-A177-3AD203B41FA5}">
                      <a16:colId xmlns:a16="http://schemas.microsoft.com/office/drawing/2014/main" val="1194843173"/>
                    </a:ext>
                  </a:extLst>
                </a:gridCol>
                <a:gridCol w="790982">
                  <a:extLst>
                    <a:ext uri="{9D8B030D-6E8A-4147-A177-3AD203B41FA5}">
                      <a16:colId xmlns:a16="http://schemas.microsoft.com/office/drawing/2014/main" val="791086441"/>
                    </a:ext>
                  </a:extLst>
                </a:gridCol>
                <a:gridCol w="790982">
                  <a:extLst>
                    <a:ext uri="{9D8B030D-6E8A-4147-A177-3AD203B41FA5}">
                      <a16:colId xmlns:a16="http://schemas.microsoft.com/office/drawing/2014/main" val="335879592"/>
                    </a:ext>
                  </a:extLst>
                </a:gridCol>
                <a:gridCol w="790982">
                  <a:extLst>
                    <a:ext uri="{9D8B030D-6E8A-4147-A177-3AD203B41FA5}">
                      <a16:colId xmlns:a16="http://schemas.microsoft.com/office/drawing/2014/main" val="2289014318"/>
                    </a:ext>
                  </a:extLst>
                </a:gridCol>
                <a:gridCol w="790982">
                  <a:extLst>
                    <a:ext uri="{9D8B030D-6E8A-4147-A177-3AD203B41FA5}">
                      <a16:colId xmlns:a16="http://schemas.microsoft.com/office/drawing/2014/main" val="4079454832"/>
                    </a:ext>
                  </a:extLst>
                </a:gridCol>
                <a:gridCol w="558666">
                  <a:extLst>
                    <a:ext uri="{9D8B030D-6E8A-4147-A177-3AD203B41FA5}">
                      <a16:colId xmlns:a16="http://schemas.microsoft.com/office/drawing/2014/main" val="19117600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Modelo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F1 macro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Accuracy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Precision macro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Recall macro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Parámetros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Tiempo (s)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4674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LSTM (Clásico 1)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0,3996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0,6042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0,5639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0,4408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2,7 M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321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3542686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BiLSTM (Clásico 2)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0,5749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0,6871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0,5876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0,5795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3,3 M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27.686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61463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BETO fine-tuned (Avanzado)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0,6565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0,7252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0,6544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0,6609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109,9 M (21,9 M entrenables)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1.780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7575063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E936693-9367-584F-67C6-34ABE77CF3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993355"/>
              </p:ext>
            </p:extLst>
          </p:nvPr>
        </p:nvGraphicFramePr>
        <p:xfrm>
          <a:off x="365524" y="3534087"/>
          <a:ext cx="6771258" cy="146304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7308">
                  <a:extLst>
                    <a:ext uri="{9D8B030D-6E8A-4147-A177-3AD203B41FA5}">
                      <a16:colId xmlns:a16="http://schemas.microsoft.com/office/drawing/2014/main" val="1344206399"/>
                    </a:ext>
                  </a:extLst>
                </a:gridCol>
                <a:gridCol w="1040790">
                  <a:extLst>
                    <a:ext uri="{9D8B030D-6E8A-4147-A177-3AD203B41FA5}">
                      <a16:colId xmlns:a16="http://schemas.microsoft.com/office/drawing/2014/main" val="2835406369"/>
                    </a:ext>
                  </a:extLst>
                </a:gridCol>
                <a:gridCol w="1040790">
                  <a:extLst>
                    <a:ext uri="{9D8B030D-6E8A-4147-A177-3AD203B41FA5}">
                      <a16:colId xmlns:a16="http://schemas.microsoft.com/office/drawing/2014/main" val="415895055"/>
                    </a:ext>
                  </a:extLst>
                </a:gridCol>
                <a:gridCol w="1040790">
                  <a:extLst>
                    <a:ext uri="{9D8B030D-6E8A-4147-A177-3AD203B41FA5}">
                      <a16:colId xmlns:a16="http://schemas.microsoft.com/office/drawing/2014/main" val="2224135727"/>
                    </a:ext>
                  </a:extLst>
                </a:gridCol>
                <a:gridCol w="1040790">
                  <a:extLst>
                    <a:ext uri="{9D8B030D-6E8A-4147-A177-3AD203B41FA5}">
                      <a16:colId xmlns:a16="http://schemas.microsoft.com/office/drawing/2014/main" val="675460222"/>
                    </a:ext>
                  </a:extLst>
                </a:gridCol>
                <a:gridCol w="1040790">
                  <a:extLst>
                    <a:ext uri="{9D8B030D-6E8A-4147-A177-3AD203B41FA5}">
                      <a16:colId xmlns:a16="http://schemas.microsoft.com/office/drawing/2014/main" val="5148368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Modelo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1★ (9,2%)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2★ (5,5%)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3★ (12,5%)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4★ (23,2%)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552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LSTM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0,686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0,168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0,359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0,022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02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BiLSTM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0,716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0,202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0,564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0,572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613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BETO fine-tuned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>
                          <a:effectLst/>
                        </a:rPr>
                        <a:t>0,777</a:t>
                      </a:r>
                      <a:endParaRPr lang="es-CO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0,502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0,595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900" dirty="0">
                          <a:effectLst/>
                        </a:rPr>
                        <a:t>0,561</a:t>
                      </a:r>
                      <a:endParaRPr lang="es-CO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042426"/>
                  </a:ext>
                </a:extLst>
              </a:tr>
            </a:tbl>
          </a:graphicData>
        </a:graphic>
      </p:graphicFrame>
      <p:pic>
        <p:nvPicPr>
          <p:cNvPr id="6" name="image1.png">
            <a:extLst>
              <a:ext uri="{FF2B5EF4-FFF2-40B4-BE49-F238E27FC236}">
                <a16:creationId xmlns:a16="http://schemas.microsoft.com/office/drawing/2014/main" id="{C79DC959-6145-67BB-94B2-174174943BB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561053" y="1646026"/>
            <a:ext cx="4634706" cy="2655223"/>
          </a:xfrm>
          <a:prstGeom prst="rect">
            <a:avLst/>
          </a:prstGeom>
          <a:ln/>
        </p:spPr>
      </p:pic>
      <p:pic>
        <p:nvPicPr>
          <p:cNvPr id="8" name="image2.png">
            <a:extLst>
              <a:ext uri="{FF2B5EF4-FFF2-40B4-BE49-F238E27FC236}">
                <a16:creationId xmlns:a16="http://schemas.microsoft.com/office/drawing/2014/main" id="{8144C125-7C46-A3D8-7CF6-C5C127A28D43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5630949" y="4515392"/>
            <a:ext cx="6400800" cy="21336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751031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CE5DA-58F8-8EDA-5966-DD4A972D7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A42600E-E09E-C880-5BEE-2D62869C82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3229A71A-120D-5CD3-E0DE-7616744E7C9C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Análisis crítico de resultados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085148-9A2E-AF64-7D9B-A658E97FA351}"/>
              </a:ext>
            </a:extLst>
          </p:cNvPr>
          <p:cNvSpPr txBox="1"/>
          <p:nvPr/>
        </p:nvSpPr>
        <p:spPr>
          <a:xfrm>
            <a:off x="571689" y="1522607"/>
            <a:ext cx="1118234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s-CO" dirty="0">
                <a:solidFill>
                  <a:srgbClr val="FFC000"/>
                </a:solidFill>
                <a:latin typeface="Arial" charset="0"/>
                <a:cs typeface="Arial" charset="0"/>
              </a:rPr>
              <a:t>Que funcionó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Bidireccionalidad</a:t>
            </a:r>
            <a:r>
              <a:rPr lang="es-CO" dirty="0">
                <a:latin typeface="Arial" charset="0"/>
                <a:cs typeface="Arial" charset="0"/>
              </a:rPr>
              <a:t>:  el 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supero al LSTM por +17.5pp de F1 macro al capturar contexto en ambas direcciones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Multi-Head Self-</a:t>
            </a:r>
            <a:r>
              <a:rPr lang="es-CO" b="1" dirty="0" err="1">
                <a:latin typeface="Arial" charset="0"/>
                <a:cs typeface="Arial" charset="0"/>
              </a:rPr>
              <a:t>Attention</a:t>
            </a:r>
            <a:r>
              <a:rPr lang="es-CO" dirty="0">
                <a:latin typeface="Arial" charset="0"/>
                <a:cs typeface="Arial" charset="0"/>
              </a:rPr>
              <a:t>:  permitió enfocarse en aspectos lingüísticos distintos simultáneamente (+4.4pp F1 vs 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simple)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Class </a:t>
            </a:r>
            <a:r>
              <a:rPr lang="es-CO" dirty="0" err="1">
                <a:latin typeface="Arial" charset="0"/>
                <a:cs typeface="Arial" charset="0"/>
              </a:rPr>
              <a:t>weights</a:t>
            </a:r>
            <a:r>
              <a:rPr lang="es-CO" dirty="0">
                <a:latin typeface="Arial" charset="0"/>
                <a:cs typeface="Arial" charset="0"/>
              </a:rPr>
              <a:t> (modelo combinado):  cruciales para atender clases minoritarias - clase 2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 subió de 0.202 a 0.533 F1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Stop </a:t>
            </a:r>
            <a:r>
              <a:rPr lang="es-CO" dirty="0" err="1">
                <a:latin typeface="Arial" charset="0"/>
                <a:cs typeface="Arial" charset="0"/>
              </a:rPr>
              <a:t>words</a:t>
            </a:r>
            <a:r>
              <a:rPr lang="es-CO" dirty="0">
                <a:latin typeface="Arial" charset="0"/>
                <a:cs typeface="Arial" charset="0"/>
              </a:rPr>
              <a:t> conservadas:  la negación 'no' aparece en 87% de reseñas 1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 vs 33% de 5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 Clave para sentimiento</a:t>
            </a:r>
          </a:p>
          <a:p>
            <a:pPr indent="0">
              <a:spcBef>
                <a:spcPts val="1200"/>
              </a:spcBef>
            </a:pPr>
            <a:r>
              <a:rPr lang="es-CO" dirty="0">
                <a:solidFill>
                  <a:srgbClr val="FFC000"/>
                </a:solidFill>
                <a:latin typeface="Arial" charset="0"/>
                <a:cs typeface="Arial" charset="0"/>
              </a:rPr>
              <a:t>Que no funcionó / Limitaciones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Class </a:t>
            </a:r>
            <a:r>
              <a:rPr lang="es-CO" dirty="0" err="1">
                <a:latin typeface="Arial" charset="0"/>
                <a:cs typeface="Arial" charset="0"/>
              </a:rPr>
              <a:t>weights</a:t>
            </a:r>
            <a:r>
              <a:rPr lang="es-CO" dirty="0">
                <a:latin typeface="Arial" charset="0"/>
                <a:cs typeface="Arial" charset="0"/>
              </a:rPr>
              <a:t> en LSTM sencillo:  empeoraron F1 macro (0.3830 vs 0.3996 sin </a:t>
            </a:r>
            <a:r>
              <a:rPr lang="es-CO" dirty="0" err="1">
                <a:latin typeface="Arial" charset="0"/>
                <a:cs typeface="Arial" charset="0"/>
              </a:rPr>
              <a:t>weights</a:t>
            </a:r>
            <a:r>
              <a:rPr lang="es-CO" dirty="0">
                <a:latin typeface="Arial" charset="0"/>
                <a:cs typeface="Arial" charset="0"/>
              </a:rPr>
              <a:t>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Clase 2 estrellas:  siempre la mas </a:t>
            </a:r>
            <a:r>
              <a:rPr lang="es-CO" dirty="0" err="1">
                <a:latin typeface="Arial" charset="0"/>
                <a:cs typeface="Arial" charset="0"/>
              </a:rPr>
              <a:t>dificil</a:t>
            </a:r>
            <a:r>
              <a:rPr lang="es-CO" dirty="0">
                <a:latin typeface="Arial" charset="0"/>
                <a:cs typeface="Arial" charset="0"/>
              </a:rPr>
              <a:t> (mejor F1=0.533). </a:t>
            </a:r>
            <a:r>
              <a:rPr lang="es-CO" dirty="0" err="1">
                <a:latin typeface="Arial" charset="0"/>
                <a:cs typeface="Arial" charset="0"/>
              </a:rPr>
              <a:t>Ambiguedad</a:t>
            </a:r>
            <a:r>
              <a:rPr lang="es-CO" dirty="0">
                <a:latin typeface="Arial" charset="0"/>
                <a:cs typeface="Arial" charset="0"/>
              </a:rPr>
              <a:t> semántica y pocos datos (5.5%)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Data </a:t>
            </a:r>
            <a:r>
              <a:rPr lang="es-CO" dirty="0" err="1">
                <a:latin typeface="Arial" charset="0"/>
                <a:cs typeface="Arial" charset="0"/>
              </a:rPr>
              <a:t>leakage</a:t>
            </a:r>
            <a:r>
              <a:rPr lang="es-CO" dirty="0">
                <a:latin typeface="Arial" charset="0"/>
                <a:cs typeface="Arial" charset="0"/>
              </a:rPr>
              <a:t>:  21% duplicados en </a:t>
            </a:r>
            <a:r>
              <a:rPr lang="es-CO" dirty="0" err="1">
                <a:latin typeface="Arial" charset="0"/>
                <a:cs typeface="Arial" charset="0"/>
              </a:rPr>
              <a:t>train</a:t>
            </a:r>
            <a:r>
              <a:rPr lang="es-CO" dirty="0">
                <a:latin typeface="Arial" charset="0"/>
                <a:cs typeface="Arial" charset="0"/>
              </a:rPr>
              <a:t>, 902 reseñas compartidas </a:t>
            </a:r>
            <a:r>
              <a:rPr lang="es-CO" dirty="0" err="1">
                <a:latin typeface="Arial" charset="0"/>
                <a:cs typeface="Arial" charset="0"/>
              </a:rPr>
              <a:t>train</a:t>
            </a:r>
            <a:r>
              <a:rPr lang="es-CO" dirty="0">
                <a:latin typeface="Arial" charset="0"/>
                <a:cs typeface="Arial" charset="0"/>
              </a:rPr>
              <a:t>/test. Métricas potencialmente infladas</a:t>
            </a: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LSTM colapsa clases intermedias:  F1=0.022 en clase 4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 sin </a:t>
            </a:r>
            <a:r>
              <a:rPr lang="es-CO" dirty="0" err="1">
                <a:latin typeface="Arial" charset="0"/>
                <a:cs typeface="Arial" charset="0"/>
              </a:rPr>
              <a:t>class</a:t>
            </a:r>
            <a:r>
              <a:rPr lang="es-CO" dirty="0">
                <a:latin typeface="Arial" charset="0"/>
                <a:cs typeface="Arial" charset="0"/>
              </a:rPr>
              <a:t> </a:t>
            </a:r>
            <a:r>
              <a:rPr lang="es-CO" dirty="0" err="1">
                <a:latin typeface="Arial" charset="0"/>
                <a:cs typeface="Arial" charset="0"/>
              </a:rPr>
              <a:t>weights</a:t>
            </a:r>
            <a:endParaRPr lang="es-CO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409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15590-82B2-8C23-38ED-4BE7C6F83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C47F972F-C7BF-CCA4-7C47-632E068057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04DE59F5-4702-7FA0-B106-F1D50526EC79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Conclusiones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B6A8B0B-C117-CA28-F20C-81EAA0C900F4}"/>
              </a:ext>
            </a:extLst>
          </p:cNvPr>
          <p:cNvSpPr txBox="1"/>
          <p:nvPr/>
        </p:nvSpPr>
        <p:spPr>
          <a:xfrm>
            <a:off x="373281" y="1720568"/>
            <a:ext cx="111823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Complejidad arquitectónica mejora rendimiento</a:t>
            </a:r>
            <a:r>
              <a:rPr lang="es-CO" dirty="0">
                <a:latin typeface="Arial" charset="0"/>
                <a:cs typeface="Arial" charset="0"/>
              </a:rPr>
              <a:t>:  cada salto de complejidad aporta mejora medible (LSTM 0.40 &lt; 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0.57 &lt; </a:t>
            </a:r>
            <a:r>
              <a:rPr lang="es-CO" dirty="0" err="1">
                <a:latin typeface="Arial" charset="0"/>
                <a:cs typeface="Arial" charset="0"/>
              </a:rPr>
              <a:t>BiLSTM+MultiHead</a:t>
            </a:r>
            <a:r>
              <a:rPr lang="es-CO" dirty="0">
                <a:latin typeface="Arial" charset="0"/>
                <a:cs typeface="Arial" charset="0"/>
              </a:rPr>
              <a:t> 0.62 F1 macro)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El desbalance severo domina el problema</a:t>
            </a:r>
            <a:r>
              <a:rPr lang="es-CO" dirty="0">
                <a:latin typeface="Arial" charset="0"/>
                <a:cs typeface="Arial" charset="0"/>
              </a:rPr>
              <a:t>:  sin manejo explicito, los modelos colapsan hacia la clase mayoritaria (5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.)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El efecto de </a:t>
            </a:r>
            <a:r>
              <a:rPr lang="es-CO" b="1" dirty="0" err="1">
                <a:latin typeface="Arial" charset="0"/>
                <a:cs typeface="Arial" charset="0"/>
              </a:rPr>
              <a:t>class</a:t>
            </a:r>
            <a:r>
              <a:rPr lang="es-CO" b="1" dirty="0">
                <a:latin typeface="Arial" charset="0"/>
                <a:cs typeface="Arial" charset="0"/>
              </a:rPr>
              <a:t> </a:t>
            </a:r>
            <a:r>
              <a:rPr lang="es-CO" b="1" dirty="0" err="1">
                <a:latin typeface="Arial" charset="0"/>
                <a:cs typeface="Arial" charset="0"/>
              </a:rPr>
              <a:t>weights</a:t>
            </a:r>
            <a:r>
              <a:rPr lang="es-CO" b="1" dirty="0">
                <a:latin typeface="Arial" charset="0"/>
                <a:cs typeface="Arial" charset="0"/>
              </a:rPr>
              <a:t> varia por modelo</a:t>
            </a:r>
            <a:r>
              <a:rPr lang="es-CO" dirty="0">
                <a:latin typeface="Arial" charset="0"/>
                <a:cs typeface="Arial" charset="0"/>
              </a:rPr>
              <a:t>:  perjudican al LSTM, mejoran F1 del </a:t>
            </a:r>
            <a:r>
              <a:rPr lang="es-CO" dirty="0" err="1">
                <a:latin typeface="Arial" charset="0"/>
                <a:cs typeface="Arial" charset="0"/>
              </a:rPr>
              <a:t>BiLSTM</a:t>
            </a:r>
            <a:r>
              <a:rPr lang="es-CO" dirty="0">
                <a:latin typeface="Arial" charset="0"/>
                <a:cs typeface="Arial" charset="0"/>
              </a:rPr>
              <a:t> (+2.4pp), y son cruciales para el modelo combinado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Las </a:t>
            </a:r>
            <a:r>
              <a:rPr lang="es-CO" b="1" dirty="0" err="1">
                <a:latin typeface="Arial" charset="0"/>
                <a:cs typeface="Arial" charset="0"/>
              </a:rPr>
              <a:t>resenas</a:t>
            </a:r>
            <a:r>
              <a:rPr lang="es-CO" b="1" dirty="0">
                <a:latin typeface="Arial" charset="0"/>
                <a:cs typeface="Arial" charset="0"/>
              </a:rPr>
              <a:t> negativas son mas largas</a:t>
            </a:r>
            <a:r>
              <a:rPr lang="es-CO" dirty="0">
                <a:latin typeface="Arial" charset="0"/>
                <a:cs typeface="Arial" charset="0"/>
              </a:rPr>
              <a:t>:  los clientes detallan quejas (mediana 74 tokens en 1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 vs 58 en 5 </a:t>
            </a:r>
            <a:r>
              <a:rPr lang="es-CO" dirty="0" err="1">
                <a:latin typeface="Arial" charset="0"/>
                <a:cs typeface="Arial" charset="0"/>
              </a:rPr>
              <a:t>est</a:t>
            </a:r>
            <a:r>
              <a:rPr lang="es-CO" dirty="0">
                <a:latin typeface="Arial" charset="0"/>
                <a:cs typeface="Arial" charset="0"/>
              </a:rPr>
              <a:t>.)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El mejor modelo del Proyecto Principal</a:t>
            </a:r>
            <a:r>
              <a:rPr lang="es-CO" dirty="0">
                <a:latin typeface="Arial" charset="0"/>
                <a:cs typeface="Arial" charset="0"/>
              </a:rPr>
              <a:t> (</a:t>
            </a:r>
            <a:r>
              <a:rPr lang="es-CO" dirty="0" err="1">
                <a:latin typeface="Arial" charset="0"/>
                <a:cs typeface="Arial" charset="0"/>
              </a:rPr>
              <a:t>BiLSTM+MultiHead</a:t>
            </a:r>
            <a:r>
              <a:rPr lang="es-CO" dirty="0">
                <a:latin typeface="Arial" charset="0"/>
                <a:cs typeface="Arial" charset="0"/>
              </a:rPr>
              <a:t>, F1=0.6193) demuestra que la combinación de representación secuencial y atención es efectiva aun sin </a:t>
            </a:r>
            <a:r>
              <a:rPr lang="es-CO" dirty="0" err="1">
                <a:latin typeface="Arial" charset="0"/>
                <a:cs typeface="Arial" charset="0"/>
              </a:rPr>
              <a:t>pre-entrenamiento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b="1" dirty="0">
                <a:latin typeface="Arial" charset="0"/>
                <a:cs typeface="Arial" charset="0"/>
              </a:rPr>
              <a:t>BETO fine-</a:t>
            </a:r>
            <a:r>
              <a:rPr lang="es-CO" b="1" dirty="0" err="1">
                <a:latin typeface="Arial" charset="0"/>
                <a:cs typeface="Arial" charset="0"/>
              </a:rPr>
              <a:t>tuned</a:t>
            </a:r>
            <a:r>
              <a:rPr lang="es-CO" b="1" dirty="0">
                <a:latin typeface="Arial" charset="0"/>
                <a:cs typeface="Arial" charset="0"/>
              </a:rPr>
              <a:t> </a:t>
            </a:r>
            <a:r>
              <a:rPr lang="es-CO" dirty="0">
                <a:latin typeface="Arial" charset="0"/>
                <a:cs typeface="Arial" charset="0"/>
              </a:rPr>
              <a:t>(Tarea de Investigación) supera al mejor clásico por +8.2% F1 macro, validando el valor de </a:t>
            </a:r>
            <a:r>
              <a:rPr lang="es-CO" dirty="0" err="1">
                <a:latin typeface="Arial" charset="0"/>
                <a:cs typeface="Arial" charset="0"/>
              </a:rPr>
              <a:t>embeddings</a:t>
            </a:r>
            <a:r>
              <a:rPr lang="es-CO" dirty="0">
                <a:latin typeface="Arial" charset="0"/>
                <a:cs typeface="Arial" charset="0"/>
              </a:rPr>
              <a:t> contextuales </a:t>
            </a:r>
            <a:r>
              <a:rPr lang="es-CO" dirty="0" err="1">
                <a:latin typeface="Arial" charset="0"/>
                <a:cs typeface="Arial" charset="0"/>
              </a:rPr>
              <a:t>pre-entrenados</a:t>
            </a:r>
            <a:r>
              <a:rPr lang="es-CO" dirty="0">
                <a:latin typeface="Arial" charset="0"/>
                <a:cs typeface="Arial" charset="0"/>
              </a:rPr>
              <a:t> para español</a:t>
            </a:r>
          </a:p>
        </p:txBody>
      </p:sp>
    </p:spTree>
    <p:extLst>
      <p:ext uri="{BB962C8B-B14F-4D97-AF65-F5344CB8AC3E}">
        <p14:creationId xmlns:p14="http://schemas.microsoft.com/office/powerpoint/2010/main" val="1758945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09FA-0293-19C4-A094-3C81300B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2A36A694-B7CA-55AA-FF58-B9D3FE03D8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128" cy="6863135"/>
          </a:xfrm>
        </p:spPr>
      </p:pic>
      <p:sp>
        <p:nvSpPr>
          <p:cNvPr id="31" name="Rectángulo 30">
            <a:extLst>
              <a:ext uri="{FF2B5EF4-FFF2-40B4-BE49-F238E27FC236}">
                <a16:creationId xmlns:a16="http://schemas.microsoft.com/office/drawing/2014/main" id="{E267601E-5BEE-EA3C-D4CC-896BC2FA9B1A}"/>
              </a:ext>
            </a:extLst>
          </p:cNvPr>
          <p:cNvSpPr/>
          <p:nvPr/>
        </p:nvSpPr>
        <p:spPr>
          <a:xfrm>
            <a:off x="1341913" y="583285"/>
            <a:ext cx="71608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3000" b="1" dirty="0">
                <a:solidFill>
                  <a:schemeClr val="bg1"/>
                </a:solidFill>
                <a:latin typeface="Arial" charset="0"/>
                <a:cs typeface="Arial" charset="0"/>
              </a:rPr>
              <a:t>Trabajo Futuro… </a:t>
            </a:r>
            <a:endParaRPr lang="es-ES_tradnl" sz="30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80F6576-8991-259D-5D07-4FB2BACBB078}"/>
              </a:ext>
            </a:extLst>
          </p:cNvPr>
          <p:cNvSpPr txBox="1"/>
          <p:nvPr/>
        </p:nvSpPr>
        <p:spPr>
          <a:xfrm>
            <a:off x="373281" y="2136338"/>
            <a:ext cx="1118234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Arial" charset="0"/>
                <a:cs typeface="Arial" charset="0"/>
              </a:rPr>
              <a:t>Deduplicar</a:t>
            </a:r>
            <a:r>
              <a:rPr lang="es-CO" dirty="0">
                <a:latin typeface="Arial" charset="0"/>
                <a:cs typeface="Arial" charset="0"/>
              </a:rPr>
              <a:t> el </a:t>
            </a:r>
            <a:r>
              <a:rPr lang="es-CO" dirty="0" err="1">
                <a:latin typeface="Arial" charset="0"/>
                <a:cs typeface="Arial" charset="0"/>
              </a:rPr>
              <a:t>dataset</a:t>
            </a:r>
            <a:r>
              <a:rPr lang="es-CO" dirty="0">
                <a:latin typeface="Arial" charset="0"/>
                <a:cs typeface="Arial" charset="0"/>
              </a:rPr>
              <a:t> antes de generar </a:t>
            </a:r>
            <a:r>
              <a:rPr lang="es-CO" dirty="0" err="1">
                <a:latin typeface="Arial" charset="0"/>
                <a:cs typeface="Arial" charset="0"/>
              </a:rPr>
              <a:t>splits</a:t>
            </a:r>
            <a:r>
              <a:rPr lang="es-CO" dirty="0">
                <a:latin typeface="Arial" charset="0"/>
                <a:cs typeface="Arial" charset="0"/>
              </a:rPr>
              <a:t> para eliminar data </a:t>
            </a:r>
            <a:r>
              <a:rPr lang="es-CO" dirty="0" err="1">
                <a:latin typeface="Arial" charset="0"/>
                <a:cs typeface="Arial" charset="0"/>
              </a:rPr>
              <a:t>leakage</a:t>
            </a:r>
            <a:r>
              <a:rPr lang="es-CO" dirty="0">
                <a:latin typeface="Arial" charset="0"/>
                <a:cs typeface="Arial" charset="0"/>
              </a:rPr>
              <a:t> y obtener métricas reales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Explorar otros </a:t>
            </a:r>
            <a:r>
              <a:rPr lang="es-CO" dirty="0" err="1">
                <a:latin typeface="Arial" charset="0"/>
                <a:cs typeface="Arial" charset="0"/>
              </a:rPr>
              <a:t>transformers</a:t>
            </a:r>
            <a:r>
              <a:rPr lang="es-CO" dirty="0">
                <a:latin typeface="Arial" charset="0"/>
                <a:cs typeface="Arial" charset="0"/>
              </a:rPr>
              <a:t> en español: </a:t>
            </a:r>
            <a:r>
              <a:rPr lang="es-CO" dirty="0" err="1">
                <a:latin typeface="Arial" charset="0"/>
                <a:cs typeface="Arial" charset="0"/>
              </a:rPr>
              <a:t>RoBERTa</a:t>
            </a:r>
            <a:r>
              <a:rPr lang="es-CO" dirty="0">
                <a:latin typeface="Arial" charset="0"/>
                <a:cs typeface="Arial" charset="0"/>
              </a:rPr>
              <a:t>-BNE (</a:t>
            </a:r>
            <a:r>
              <a:rPr lang="es-CO" dirty="0" err="1">
                <a:latin typeface="Arial" charset="0"/>
                <a:cs typeface="Arial" charset="0"/>
              </a:rPr>
              <a:t>MarIA</a:t>
            </a:r>
            <a:r>
              <a:rPr lang="es-CO" dirty="0">
                <a:latin typeface="Arial" charset="0"/>
                <a:cs typeface="Arial" charset="0"/>
              </a:rPr>
              <a:t>), BERTIN, XLM-</a:t>
            </a:r>
            <a:r>
              <a:rPr lang="es-CO" dirty="0" err="1">
                <a:latin typeface="Arial" charset="0"/>
                <a:cs typeface="Arial" charset="0"/>
              </a:rPr>
              <a:t>RoBERTa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Evaluar técnicas de aumento de datos (back-</a:t>
            </a:r>
            <a:r>
              <a:rPr lang="es-CO" dirty="0" err="1">
                <a:latin typeface="Arial" charset="0"/>
                <a:cs typeface="Arial" charset="0"/>
              </a:rPr>
              <a:t>translation</a:t>
            </a:r>
            <a:r>
              <a:rPr lang="es-CO" dirty="0">
                <a:latin typeface="Arial" charset="0"/>
                <a:cs typeface="Arial" charset="0"/>
              </a:rPr>
              <a:t>, parafraseo) para clases minoritarias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Implementar interpretabilidad: visualización de pesos de atención sobre reseñas representativas</a:t>
            </a:r>
            <a:br>
              <a:rPr lang="es-CO" dirty="0">
                <a:latin typeface="Arial" charset="0"/>
                <a:cs typeface="Arial" charset="0"/>
              </a:rPr>
            </a:br>
            <a:endParaRPr lang="es-CO" dirty="0">
              <a:latin typeface="Arial" charset="0"/>
              <a:cs typeface="Arial" charset="0"/>
            </a:endParaRPr>
          </a:p>
          <a:p>
            <a:pPr indent="-342900">
              <a:buFont typeface="Arial" panose="020B0604020202020204" pitchFamily="34" charset="0"/>
              <a:buChar char="•"/>
            </a:pPr>
            <a:r>
              <a:rPr lang="es-CO" dirty="0">
                <a:latin typeface="Arial" charset="0"/>
                <a:cs typeface="Arial" charset="0"/>
              </a:rPr>
              <a:t>Considerar reducción de clases (3 clases: negativo/neutro/positivo) para mejorar rendimiento</a:t>
            </a:r>
          </a:p>
        </p:txBody>
      </p:sp>
    </p:spTree>
    <p:extLst>
      <p:ext uri="{BB962C8B-B14F-4D97-AF65-F5344CB8AC3E}">
        <p14:creationId xmlns:p14="http://schemas.microsoft.com/office/powerpoint/2010/main" val="42659477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6b2e044-6a54-4cb7-a441-36a5fc0f35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ECE4137A04C74EADBDF64FAADFD87F" ma:contentTypeVersion="13" ma:contentTypeDescription="Create a new document." ma:contentTypeScope="" ma:versionID="fc13da7217d8827789899f61843b80d3">
  <xsd:schema xmlns:xsd="http://www.w3.org/2001/XMLSchema" xmlns:xs="http://www.w3.org/2001/XMLSchema" xmlns:p="http://schemas.microsoft.com/office/2006/metadata/properties" xmlns:ns3="d6b2e044-6a54-4cb7-a441-36a5fc0f35b5" xmlns:ns4="e71c23b1-50b5-4f23-b9fe-833da4dd8ba4" targetNamespace="http://schemas.microsoft.com/office/2006/metadata/properties" ma:root="true" ma:fieldsID="cfbf5e54054611de90bd5e095b4eb34c" ns3:_="" ns4:_="">
    <xsd:import namespace="d6b2e044-6a54-4cb7-a441-36a5fc0f35b5"/>
    <xsd:import namespace="e71c23b1-50b5-4f23-b9fe-833da4dd8ba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b2e044-6a54-4cb7-a441-36a5fc0f35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1c23b1-50b5-4f23-b9fe-833da4dd8ba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03E9B0-7CDF-4882-93FC-F791BEF38E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9D330E-5CBA-419E-8F25-A3D3F794F61E}">
  <ds:schemaRefs>
    <ds:schemaRef ds:uri="e71c23b1-50b5-4f23-b9fe-833da4dd8ba4"/>
    <ds:schemaRef ds:uri="http://purl.org/dc/elements/1.1/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d6b2e044-6a54-4cb7-a441-36a5fc0f35b5"/>
    <ds:schemaRef ds:uri="http://schemas.microsoft.com/office/2006/documentManagement/typ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7FEAFB6-4C42-47E3-8F84-097CD8B175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b2e044-6a54-4cb7-a441-36a5fc0f35b5"/>
    <ds:schemaRef ds:uri="e71c23b1-50b5-4f23-b9fe-833da4dd8ba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26007</TotalTime>
  <Words>2148</Words>
  <Application>Microsoft Office PowerPoint</Application>
  <PresentationFormat>Panorámica</PresentationFormat>
  <Paragraphs>490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wilperiodista86@gmail.com</dc:creator>
  <cp:lastModifiedBy>Felipe Reyes</cp:lastModifiedBy>
  <cp:revision>509</cp:revision>
  <dcterms:created xsi:type="dcterms:W3CDTF">2017-03-01T15:55:36Z</dcterms:created>
  <dcterms:modified xsi:type="dcterms:W3CDTF">2026-05-25T21:13:54Z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0x0101009FECE4137A04C74EADBDF64FAADFD87F</vt:lpwstr>
  </property>
</Properties>
</file>