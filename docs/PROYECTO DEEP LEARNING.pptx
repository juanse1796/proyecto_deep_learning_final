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1"/>
  </p:notesMasterIdLst>
  <p:sldIdLst>
    <p:sldId id="517" r:id="rId5"/>
    <p:sldId id="386" r:id="rId6"/>
    <p:sldId id="518" r:id="rId7"/>
    <p:sldId id="519" r:id="rId8"/>
    <p:sldId id="520" r:id="rId9"/>
    <p:sldId id="521" r:id="rId10"/>
    <p:sldId id="522" r:id="rId11"/>
    <p:sldId id="523" r:id="rId12"/>
    <p:sldId id="527" r:id="rId13"/>
    <p:sldId id="524" r:id="rId14"/>
    <p:sldId id="528" r:id="rId15"/>
    <p:sldId id="525" r:id="rId16"/>
    <p:sldId id="529" r:id="rId17"/>
    <p:sldId id="526" r:id="rId18"/>
    <p:sldId id="530" r:id="rId19"/>
    <p:sldId id="531" r:id="rId20"/>
  </p:sldIdLst>
  <p:sldSz cx="12192000" cy="6858000"/>
  <p:notesSz cx="7315200" cy="9601200"/>
  <p:defaultTextStyle>
    <a:defPPr>
      <a:defRPr lang="es-ES_trad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Adriana Diaz" initials="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CFF"/>
    <a:srgbClr val="CC99FF"/>
    <a:srgbClr val="FFFF99"/>
    <a:srgbClr val="FF99FF"/>
    <a:srgbClr val="006666"/>
    <a:srgbClr val="FF66FF"/>
    <a:srgbClr val="00FFFF"/>
    <a:srgbClr val="141C35"/>
    <a:srgbClr val="141C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D274508-CC2E-4832-BF13-8855BF0FF0C1}" v="113" dt="2026-05-25T13:50:55.94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Estilo medio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12" autoAdjust="0"/>
    <p:restoredTop sz="95331" autoAdjust="0"/>
  </p:normalViewPr>
  <p:slideViewPr>
    <p:cSldViewPr snapToGrid="0" snapToObjects="1">
      <p:cViewPr varScale="1">
        <p:scale>
          <a:sx n="82" d="100"/>
          <a:sy n="82" d="100"/>
        </p:scale>
        <p:origin x="490" y="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commentAuthors" Target="commentAuthors.xml"/><Relationship Id="rId27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l">
              <a:defRPr sz="1300"/>
            </a:lvl1pPr>
          </a:lstStyle>
          <a:p>
            <a:endParaRPr lang="es-ES_tradnl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4143587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r">
              <a:defRPr sz="1300"/>
            </a:lvl1pPr>
          </a:lstStyle>
          <a:p>
            <a:fld id="{478E539C-DDF3-AC46-8B9D-2E762AE448C0}" type="datetimeFigureOut">
              <a:rPr lang="es-ES_tradnl" smtClean="0"/>
              <a:t>24/05/2026</a:t>
            </a:fld>
            <a:endParaRPr lang="es-ES_tradnl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777875" y="1200150"/>
            <a:ext cx="5759450" cy="32400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661" tIns="48331" rIns="96661" bIns="48331" rtlCol="0" anchor="ctr"/>
          <a:lstStyle/>
          <a:p>
            <a:endParaRPr lang="es-ES_tradnl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731520" y="4620577"/>
            <a:ext cx="5852160" cy="3780473"/>
          </a:xfrm>
          <a:prstGeom prst="rect">
            <a:avLst/>
          </a:prstGeom>
        </p:spPr>
        <p:txBody>
          <a:bodyPr vert="horz" lIns="96661" tIns="48331" rIns="96661" bIns="48331" rtlCol="0"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l">
              <a:defRPr sz="1300"/>
            </a:lvl1pPr>
          </a:lstStyle>
          <a:p>
            <a:endParaRPr lang="es-ES_tradnl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4143587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r">
              <a:defRPr sz="1300"/>
            </a:lvl1pPr>
          </a:lstStyle>
          <a:p>
            <a:fld id="{42F5C0A5-FBF0-BA4F-A7ED-D301001CE6FC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7895411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_tradnl"/>
              <a:t>Clic para editar título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_tradnl"/>
              <a:t>Haga clic para modificar el estilo de subtítulo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A280E0-7F35-E648-A499-767250BB567F}" type="datetimeFigureOut">
              <a:rPr lang="es-ES_tradnl" smtClean="0"/>
              <a:t>24/05/2026</a:t>
            </a:fld>
            <a:endParaRPr lang="es-ES_tradnl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770117-86FD-5C4E-9449-35DCC7DD46F3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757033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A280E0-7F35-E648-A499-767250BB567F}" type="datetimeFigureOut">
              <a:rPr lang="es-ES_tradnl" smtClean="0"/>
              <a:t>24/05/2026</a:t>
            </a:fld>
            <a:endParaRPr lang="es-ES_tradnl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770117-86FD-5C4E-9449-35DCC7DD46F3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8439787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_tradnl"/>
              <a:t>Clic para editar título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A280E0-7F35-E648-A499-767250BB567F}" type="datetimeFigureOut">
              <a:rPr lang="es-ES_tradnl" smtClean="0"/>
              <a:t>24/05/2026</a:t>
            </a:fld>
            <a:endParaRPr lang="es-ES_tradnl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770117-86FD-5C4E-9449-35DCC7DD46F3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6212619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A280E0-7F35-E648-A499-767250BB567F}" type="datetimeFigureOut">
              <a:rPr lang="es-ES_tradnl" smtClean="0"/>
              <a:t>24/05/2026</a:t>
            </a:fld>
            <a:endParaRPr lang="es-ES_tradnl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770117-86FD-5C4E-9449-35DCC7DD46F3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4844884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_tradnl"/>
              <a:t>Clic para editar título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A280E0-7F35-E648-A499-767250BB567F}" type="datetimeFigureOut">
              <a:rPr lang="es-ES_tradnl" smtClean="0"/>
              <a:t>24/05/2026</a:t>
            </a:fld>
            <a:endParaRPr lang="es-ES_tradnl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770117-86FD-5C4E-9449-35DCC7DD46F3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6876633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A280E0-7F35-E648-A499-767250BB567F}" type="datetimeFigureOut">
              <a:rPr lang="es-ES_tradnl" smtClean="0"/>
              <a:t>24/05/2026</a:t>
            </a:fld>
            <a:endParaRPr lang="es-ES_tradnl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770117-86FD-5C4E-9449-35DCC7DD46F3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5931071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A280E0-7F35-E648-A499-767250BB567F}" type="datetimeFigureOut">
              <a:rPr lang="es-ES_tradnl" smtClean="0"/>
              <a:t>24/05/2026</a:t>
            </a:fld>
            <a:endParaRPr lang="es-ES_tradnl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770117-86FD-5C4E-9449-35DCC7DD46F3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8800626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_tradnl"/>
              <a:t>Clic para editar título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A280E0-7F35-E648-A499-767250BB567F}" type="datetimeFigureOut">
              <a:rPr lang="es-ES_tradnl" smtClean="0"/>
              <a:t>24/05/2026</a:t>
            </a:fld>
            <a:endParaRPr lang="es-ES_tradnl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770117-86FD-5C4E-9449-35DCC7DD46F3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383917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_tradnl"/>
              <a:t>Clic para editar título</a:t>
            </a:r>
          </a:p>
        </p:txBody>
      </p:sp>
      <p:sp>
        <p:nvSpPr>
          <p:cNvPr id="3" name="Marcador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_tradnl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_tradnl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A280E0-7F35-E648-A499-767250BB567F}" type="datetimeFigureOut">
              <a:rPr lang="es-ES_tradnl" smtClean="0"/>
              <a:t>24/05/2026</a:t>
            </a:fld>
            <a:endParaRPr lang="es-ES_tradnl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770117-86FD-5C4E-9449-35DCC7DD46F3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247643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/>
              <a:t>Clic para editar título</a:t>
            </a:r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A280E0-7F35-E648-A499-767250BB567F}" type="datetimeFigureOut">
              <a:rPr lang="es-ES_tradnl" smtClean="0"/>
              <a:t>24/05/2026</a:t>
            </a:fld>
            <a:endParaRPr lang="es-ES_tradnl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770117-86FD-5C4E-9449-35DCC7DD46F3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899222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_tradnl"/>
              <a:t>Clic para editar título</a:t>
            </a:r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A280E0-7F35-E648-A499-767250BB567F}" type="datetimeFigureOut">
              <a:rPr lang="es-ES_tradnl" smtClean="0"/>
              <a:t>24/05/2026</a:t>
            </a:fld>
            <a:endParaRPr lang="es-ES_tradnl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770117-86FD-5C4E-9449-35DCC7DD46F3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8626403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_tradnl"/>
              <a:t>Clic para editar título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_tradnl"/>
              <a:t>Haga clic para modificar el estilo de texto del patrón</a:t>
            </a:r>
          </a:p>
          <a:p>
            <a:pPr lvl="1"/>
            <a:r>
              <a:rPr lang="es-ES_tradnl"/>
              <a:t>Segundo nivel</a:t>
            </a:r>
          </a:p>
          <a:p>
            <a:pPr lvl="2"/>
            <a:r>
              <a:rPr lang="es-ES_tradnl"/>
              <a:t>Tercer nivel</a:t>
            </a:r>
          </a:p>
          <a:p>
            <a:pPr lvl="3"/>
            <a:r>
              <a:rPr lang="es-ES_tradnl"/>
              <a:t>Cuarto nivel</a:t>
            </a:r>
          </a:p>
          <a:p>
            <a:pPr lvl="4"/>
            <a:r>
              <a:rPr lang="es-ES_tradnl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A280E0-7F35-E648-A499-767250BB567F}" type="datetimeFigureOut">
              <a:rPr lang="es-ES_tradnl" smtClean="0"/>
              <a:t>24/05/2026</a:t>
            </a:fld>
            <a:endParaRPr lang="es-ES_tradnl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_tradnl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C770117-86FD-5C4E-9449-35DCC7DD46F3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4225682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_trad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upo 5"/>
          <p:cNvGrpSpPr/>
          <p:nvPr/>
        </p:nvGrpSpPr>
        <p:grpSpPr>
          <a:xfrm>
            <a:off x="1" y="0"/>
            <a:ext cx="12192000" cy="6858000"/>
            <a:chOff x="1" y="0"/>
            <a:chExt cx="12192000" cy="6858000"/>
          </a:xfrm>
        </p:grpSpPr>
        <p:pic>
          <p:nvPicPr>
            <p:cNvPr id="4" name="Imagen 3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" y="0"/>
              <a:ext cx="12192000" cy="6858000"/>
            </a:xfrm>
            <a:prstGeom prst="rect">
              <a:avLst/>
            </a:prstGeom>
          </p:spPr>
        </p:pic>
        <p:sp>
          <p:nvSpPr>
            <p:cNvPr id="3" name="Rectángulo 2"/>
            <p:cNvSpPr/>
            <p:nvPr/>
          </p:nvSpPr>
          <p:spPr>
            <a:xfrm>
              <a:off x="4005207" y="5648632"/>
              <a:ext cx="4460367" cy="110612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</p:grpSp>
      <p:sp>
        <p:nvSpPr>
          <p:cNvPr id="2" name="Rectángulo 1"/>
          <p:cNvSpPr/>
          <p:nvPr/>
        </p:nvSpPr>
        <p:spPr>
          <a:xfrm>
            <a:off x="0" y="303956"/>
            <a:ext cx="6827303" cy="17151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Rectángulo 4"/>
          <p:cNvSpPr/>
          <p:nvPr/>
        </p:nvSpPr>
        <p:spPr>
          <a:xfrm>
            <a:off x="1" y="5229081"/>
            <a:ext cx="4005206" cy="16364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Subtítulo 2"/>
          <p:cNvSpPr>
            <a:spLocks noGrp="1"/>
          </p:cNvSpPr>
          <p:nvPr>
            <p:ph type="subTitle" idx="1"/>
          </p:nvPr>
        </p:nvSpPr>
        <p:spPr>
          <a:xfrm>
            <a:off x="3539067" y="1994560"/>
            <a:ext cx="8263467" cy="2844307"/>
          </a:xfrm>
        </p:spPr>
        <p:txBody>
          <a:bodyPr>
            <a:noAutofit/>
          </a:bodyPr>
          <a:lstStyle/>
          <a:p>
            <a:endParaRPr lang="es-ES_tradnl" sz="4400" dirty="0">
              <a:solidFill>
                <a:schemeClr val="bg1"/>
              </a:solidFill>
              <a:latin typeface="Arial" charset="0"/>
              <a:ea typeface="Arial" charset="0"/>
              <a:cs typeface="Arial" charset="0"/>
            </a:endParaRPr>
          </a:p>
          <a:p>
            <a:r>
              <a:rPr lang="es-CO" sz="4400" b="1" dirty="0">
                <a:solidFill>
                  <a:schemeClr val="bg1"/>
                </a:solidFill>
                <a:latin typeface="Arial" charset="0"/>
                <a:cs typeface="Arial" charset="0"/>
              </a:rPr>
              <a:t>Clasificación de Reseñas de Hoteles con RNN</a:t>
            </a:r>
          </a:p>
          <a:p>
            <a:br>
              <a:rPr lang="es-CO" sz="1000" dirty="0"/>
            </a:br>
            <a:endParaRPr lang="es-ES_tradnl" sz="1000" b="1" dirty="0">
              <a:solidFill>
                <a:srgbClr val="FFC000"/>
              </a:solidFill>
              <a:latin typeface="Arial" charset="0"/>
              <a:ea typeface="Arial" charset="0"/>
              <a:cs typeface="Arial" charset="0"/>
            </a:endParaRPr>
          </a:p>
          <a:p>
            <a:r>
              <a:rPr lang="es-CO" sz="2800" b="1" dirty="0">
                <a:solidFill>
                  <a:srgbClr val="FFC000"/>
                </a:solidFill>
                <a:latin typeface="Arial" charset="0"/>
                <a:cs typeface="Arial" charset="0"/>
              </a:rPr>
              <a:t>Felipe Reyes · </a:t>
            </a:r>
            <a:r>
              <a:rPr lang="es-CO" sz="2800" b="1" dirty="0" err="1">
                <a:solidFill>
                  <a:srgbClr val="FFC000"/>
                </a:solidFill>
                <a:latin typeface="Arial" charset="0"/>
                <a:cs typeface="Arial" charset="0"/>
              </a:rPr>
              <a:t>Yibby</a:t>
            </a:r>
            <a:r>
              <a:rPr lang="es-CO" sz="2800" b="1" dirty="0">
                <a:solidFill>
                  <a:srgbClr val="FFC000"/>
                </a:solidFill>
                <a:latin typeface="Arial" charset="0"/>
                <a:cs typeface="Arial" charset="0"/>
              </a:rPr>
              <a:t> González · Daniel Ruiz · Sebastián Ruiz</a:t>
            </a:r>
          </a:p>
          <a:p>
            <a:br>
              <a:rPr lang="es-CO" sz="2800" dirty="0"/>
            </a:br>
            <a:endParaRPr lang="es-ES_tradnl" sz="2800" b="1" dirty="0">
              <a:solidFill>
                <a:srgbClr val="FFC000"/>
              </a:solidFill>
              <a:latin typeface="Arial" charset="0"/>
              <a:ea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453770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Marcador de contenido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201128" cy="6863135"/>
          </a:xfrm>
        </p:spPr>
      </p:pic>
      <p:sp>
        <p:nvSpPr>
          <p:cNvPr id="31" name="Rectángulo 30"/>
          <p:cNvSpPr/>
          <p:nvPr/>
        </p:nvSpPr>
        <p:spPr>
          <a:xfrm>
            <a:off x="1341913" y="583285"/>
            <a:ext cx="7160820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CO" sz="3000" b="1" dirty="0">
                <a:solidFill>
                  <a:schemeClr val="bg1"/>
                </a:solidFill>
                <a:latin typeface="Arial" charset="0"/>
                <a:cs typeface="Arial" charset="0"/>
              </a:rPr>
              <a:t>Agenda</a:t>
            </a:r>
            <a:br>
              <a:rPr lang="es-CO" sz="3200" dirty="0"/>
            </a:br>
            <a:endParaRPr lang="es-ES_tradnl" sz="3000" b="1" dirty="0">
              <a:solidFill>
                <a:schemeClr val="bg1"/>
              </a:solidFill>
              <a:latin typeface="Arial" charset="0"/>
              <a:cs typeface="Arial" charset="0"/>
            </a:endParaRPr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994651" y="2820405"/>
            <a:ext cx="5397296" cy="20097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 eaLnBrk="0" hangingPunct="0">
              <a:defRPr kumimoji="1" sz="2400" b="1">
                <a:solidFill>
                  <a:schemeClr val="tx1"/>
                </a:solidFill>
                <a:latin typeface="Arial Narrow" pitchFamily="34" charset="0"/>
              </a:defRPr>
            </a:lvl1pPr>
            <a:lvl2pPr marL="742950" indent="-285750" eaLnBrk="0" hangingPunct="0">
              <a:defRPr kumimoji="1" sz="2400" b="1">
                <a:solidFill>
                  <a:schemeClr val="tx1"/>
                </a:solidFill>
                <a:latin typeface="Arial Narrow" pitchFamily="34" charset="0"/>
              </a:defRPr>
            </a:lvl2pPr>
            <a:lvl3pPr marL="1143000" indent="-228600" eaLnBrk="0" hangingPunct="0">
              <a:defRPr kumimoji="1" sz="2400" b="1">
                <a:solidFill>
                  <a:schemeClr val="tx1"/>
                </a:solidFill>
                <a:latin typeface="Arial Narrow" pitchFamily="34" charset="0"/>
              </a:defRPr>
            </a:lvl3pPr>
            <a:lvl4pPr marL="1600200" indent="-228600" eaLnBrk="0" hangingPunct="0">
              <a:defRPr kumimoji="1" sz="2400" b="1">
                <a:solidFill>
                  <a:schemeClr val="tx1"/>
                </a:solidFill>
                <a:latin typeface="Arial Narrow" pitchFamily="34" charset="0"/>
              </a:defRPr>
            </a:lvl4pPr>
            <a:lvl5pPr marL="2057400" indent="-228600" eaLnBrk="0" hangingPunct="0">
              <a:defRPr kumimoji="1" sz="2400" b="1">
                <a:solidFill>
                  <a:schemeClr val="tx1"/>
                </a:solidFill>
                <a:latin typeface="Arial Narrow" pitchFamily="34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 b="1">
                <a:solidFill>
                  <a:schemeClr val="tx1"/>
                </a:solidFill>
                <a:latin typeface="Arial Narrow" pitchFamily="34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 b="1">
                <a:solidFill>
                  <a:schemeClr val="tx1"/>
                </a:solidFill>
                <a:latin typeface="Arial Narrow" pitchFamily="34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 b="1">
                <a:solidFill>
                  <a:schemeClr val="tx1"/>
                </a:solidFill>
                <a:latin typeface="Arial Narrow" pitchFamily="34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 b="1">
                <a:solidFill>
                  <a:schemeClr val="tx1"/>
                </a:solidFill>
                <a:latin typeface="Arial Narrow" pitchFamily="34" charset="0"/>
              </a:defRPr>
            </a:lvl9pPr>
          </a:lstStyle>
          <a:p>
            <a:pPr marL="0" indent="0" eaLnBrk="1" hangingPunct="1">
              <a:spcBef>
                <a:spcPct val="20000"/>
              </a:spcBef>
              <a:buClr>
                <a:schemeClr val="hlink"/>
              </a:buClr>
              <a:buSzPct val="55000"/>
            </a:pPr>
            <a:r>
              <a:rPr lang="es-CO" altLang="es-CO" sz="1600" dirty="0">
                <a:solidFill>
                  <a:srgbClr val="FFC000"/>
                </a:solidFill>
                <a:latin typeface="Arial" charset="0"/>
                <a:cs typeface="Arial" charset="0"/>
              </a:rPr>
              <a:t>1. </a:t>
            </a:r>
            <a:r>
              <a:rPr lang="es-CO" altLang="es-CO" sz="1600" dirty="0" err="1">
                <a:solidFill>
                  <a:srgbClr val="FFC000"/>
                </a:solidFill>
                <a:latin typeface="Arial" charset="0"/>
                <a:cs typeface="Arial" charset="0"/>
              </a:rPr>
              <a:t>Dataset</a:t>
            </a:r>
            <a:r>
              <a:rPr lang="es-CO" altLang="es-CO" sz="1600" dirty="0">
                <a:solidFill>
                  <a:srgbClr val="FFC000"/>
                </a:solidFill>
                <a:latin typeface="Arial" charset="0"/>
                <a:cs typeface="Arial" charset="0"/>
              </a:rPr>
              <a:t> y Problema</a:t>
            </a:r>
          </a:p>
          <a:p>
            <a:r>
              <a:rPr lang="es-CO" sz="1600" dirty="0">
                <a:solidFill>
                  <a:srgbClr val="FFC000"/>
                </a:solidFill>
                <a:latin typeface="Arial" charset="0"/>
                <a:cs typeface="Arial" charset="0"/>
              </a:rPr>
              <a:t>2. Preprocesamiento e Infraestructura Compartida</a:t>
            </a:r>
          </a:p>
          <a:p>
            <a:r>
              <a:rPr lang="es-CO" sz="1600" dirty="0">
                <a:solidFill>
                  <a:srgbClr val="FFC000"/>
                </a:solidFill>
                <a:latin typeface="Arial" charset="0"/>
                <a:cs typeface="Arial" charset="0"/>
              </a:rPr>
              <a:t>3. Modelos Clásicos</a:t>
            </a:r>
          </a:p>
          <a:p>
            <a:r>
              <a:rPr lang="es-CO" sz="1600" dirty="0">
                <a:solidFill>
                  <a:srgbClr val="FFC000"/>
                </a:solidFill>
                <a:latin typeface="Arial" charset="0"/>
                <a:cs typeface="Arial" charset="0"/>
              </a:rPr>
              <a:t>4. Modelo Nuevo/Combinado</a:t>
            </a:r>
          </a:p>
          <a:p>
            <a:r>
              <a:rPr lang="es-CO" sz="1600" dirty="0">
                <a:solidFill>
                  <a:srgbClr val="FFC000"/>
                </a:solidFill>
                <a:latin typeface="Arial" charset="0"/>
                <a:cs typeface="Arial" charset="0"/>
              </a:rPr>
              <a:t>5. Resultados, Análisis y Conclusiones</a:t>
            </a:r>
          </a:p>
          <a:p>
            <a:r>
              <a:rPr lang="es-CO" sz="1600" dirty="0">
                <a:solidFill>
                  <a:srgbClr val="FFC000"/>
                </a:solidFill>
                <a:latin typeface="Arial" charset="0"/>
                <a:cs typeface="Arial" charset="0"/>
              </a:rPr>
              <a:t>6. Investigación</a:t>
            </a:r>
          </a:p>
          <a:p>
            <a:br>
              <a:rPr lang="es-CO" dirty="0"/>
            </a:br>
            <a:endParaRPr lang="es-CO" b="0" dirty="0"/>
          </a:p>
          <a:p>
            <a:br>
              <a:rPr lang="es-CO" dirty="0"/>
            </a:br>
            <a:endParaRPr lang="es-CO" b="0" dirty="0"/>
          </a:p>
          <a:p>
            <a:br>
              <a:rPr lang="es-CO" dirty="0"/>
            </a:br>
            <a:endParaRPr lang="es-CO" b="0" dirty="0"/>
          </a:p>
          <a:p>
            <a:br>
              <a:rPr lang="es-CO" dirty="0"/>
            </a:br>
            <a:endParaRPr lang="es-CO" altLang="es-CO" b="0" dirty="0">
              <a:solidFill>
                <a:schemeClr val="accent4">
                  <a:lumMod val="7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1026" name="Picture 2" descr="BACKPACKING COLOMBIA (Cartagena) - opiniones y comentarios - hostal -  Tripadvisor">
            <a:extLst>
              <a:ext uri="{FF2B5EF4-FFF2-40B4-BE49-F238E27FC236}">
                <a16:creationId xmlns:a16="http://schemas.microsoft.com/office/drawing/2014/main" id="{AAD49D93-2116-116A-9DD3-C0E6153936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91947" y="1893594"/>
            <a:ext cx="5238750" cy="3524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904361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E0CAC991-E77A-6A61-F8D7-0B54CD85C8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Marcador de contenido 3">
            <a:extLst>
              <a:ext uri="{FF2B5EF4-FFF2-40B4-BE49-F238E27FC236}">
                <a16:creationId xmlns:a16="http://schemas.microsoft.com/office/drawing/2014/main" id="{B48984D6-964B-D520-1848-2871E94A2C5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201128" cy="6863135"/>
          </a:xfrm>
        </p:spPr>
      </p:pic>
      <p:sp>
        <p:nvSpPr>
          <p:cNvPr id="31" name="Rectángulo 30">
            <a:extLst>
              <a:ext uri="{FF2B5EF4-FFF2-40B4-BE49-F238E27FC236}">
                <a16:creationId xmlns:a16="http://schemas.microsoft.com/office/drawing/2014/main" id="{FEF38DDA-A125-FD3C-36A9-63A7FDAA5F88}"/>
              </a:ext>
            </a:extLst>
          </p:cNvPr>
          <p:cNvSpPr/>
          <p:nvPr/>
        </p:nvSpPr>
        <p:spPr>
          <a:xfrm>
            <a:off x="1341913" y="583285"/>
            <a:ext cx="7160820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s-CO" sz="3000" b="1" dirty="0" err="1">
                <a:solidFill>
                  <a:schemeClr val="bg1"/>
                </a:solidFill>
                <a:latin typeface="Arial" charset="0"/>
                <a:cs typeface="Arial" charset="0"/>
              </a:rPr>
              <a:t>Dataset</a:t>
            </a:r>
            <a:r>
              <a:rPr lang="es-CO" sz="3000" b="1" dirty="0">
                <a:solidFill>
                  <a:schemeClr val="bg1"/>
                </a:solidFill>
                <a:latin typeface="Arial" charset="0"/>
                <a:cs typeface="Arial" charset="0"/>
              </a:rPr>
              <a:t> — </a:t>
            </a:r>
            <a:r>
              <a:rPr lang="es-CO" sz="3000" b="1" dirty="0" err="1">
                <a:solidFill>
                  <a:schemeClr val="bg1"/>
                </a:solidFill>
                <a:latin typeface="Arial" charset="0"/>
                <a:cs typeface="Arial" charset="0"/>
              </a:rPr>
              <a:t>Andalusian</a:t>
            </a:r>
            <a:r>
              <a:rPr lang="es-CO" sz="3000" b="1" dirty="0">
                <a:solidFill>
                  <a:schemeClr val="bg1"/>
                </a:solidFill>
                <a:latin typeface="Arial" charset="0"/>
                <a:cs typeface="Arial" charset="0"/>
              </a:rPr>
              <a:t> </a:t>
            </a:r>
            <a:r>
              <a:rPr lang="es-CO" sz="3000" b="1" dirty="0" err="1">
                <a:solidFill>
                  <a:schemeClr val="bg1"/>
                </a:solidFill>
                <a:latin typeface="Arial" charset="0"/>
                <a:cs typeface="Arial" charset="0"/>
              </a:rPr>
              <a:t>Hotels</a:t>
            </a:r>
            <a:r>
              <a:rPr lang="es-CO" sz="3000" b="1" dirty="0">
                <a:solidFill>
                  <a:schemeClr val="bg1"/>
                </a:solidFill>
                <a:latin typeface="Arial" charset="0"/>
                <a:cs typeface="Arial" charset="0"/>
              </a:rPr>
              <a:t> </a:t>
            </a:r>
            <a:r>
              <a:rPr lang="es-CO" sz="3000" b="1" dirty="0" err="1">
                <a:solidFill>
                  <a:schemeClr val="bg1"/>
                </a:solidFill>
                <a:latin typeface="Arial" charset="0"/>
                <a:cs typeface="Arial" charset="0"/>
              </a:rPr>
              <a:t>Reviews</a:t>
            </a:r>
            <a:endParaRPr lang="es-CO" sz="3000" b="1" dirty="0">
              <a:solidFill>
                <a:schemeClr val="bg1"/>
              </a:solidFill>
              <a:latin typeface="Arial" charset="0"/>
              <a:cs typeface="Arial" charset="0"/>
            </a:endParaRPr>
          </a:p>
          <a:p>
            <a:pPr algn="ctr"/>
            <a:endParaRPr lang="es-ES_tradnl" sz="3000" b="1" dirty="0">
              <a:solidFill>
                <a:schemeClr val="bg1"/>
              </a:solidFill>
              <a:latin typeface="Arial" charset="0"/>
              <a:cs typeface="Arial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F511804-F581-D5C7-FCBD-80046B0586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6051" y="1815516"/>
            <a:ext cx="5397296" cy="426143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 eaLnBrk="0" hangingPunct="0">
              <a:defRPr kumimoji="1" sz="2400" b="1">
                <a:solidFill>
                  <a:schemeClr val="tx1"/>
                </a:solidFill>
                <a:latin typeface="Arial Narrow" pitchFamily="34" charset="0"/>
              </a:defRPr>
            </a:lvl1pPr>
            <a:lvl2pPr marL="742950" indent="-285750" eaLnBrk="0" hangingPunct="0">
              <a:defRPr kumimoji="1" sz="2400" b="1">
                <a:solidFill>
                  <a:schemeClr val="tx1"/>
                </a:solidFill>
                <a:latin typeface="Arial Narrow" pitchFamily="34" charset="0"/>
              </a:defRPr>
            </a:lvl2pPr>
            <a:lvl3pPr marL="1143000" indent="-228600" eaLnBrk="0" hangingPunct="0">
              <a:defRPr kumimoji="1" sz="2400" b="1">
                <a:solidFill>
                  <a:schemeClr val="tx1"/>
                </a:solidFill>
                <a:latin typeface="Arial Narrow" pitchFamily="34" charset="0"/>
              </a:defRPr>
            </a:lvl3pPr>
            <a:lvl4pPr marL="1600200" indent="-228600" eaLnBrk="0" hangingPunct="0">
              <a:defRPr kumimoji="1" sz="2400" b="1">
                <a:solidFill>
                  <a:schemeClr val="tx1"/>
                </a:solidFill>
                <a:latin typeface="Arial Narrow" pitchFamily="34" charset="0"/>
              </a:defRPr>
            </a:lvl4pPr>
            <a:lvl5pPr marL="2057400" indent="-228600" eaLnBrk="0" hangingPunct="0">
              <a:defRPr kumimoji="1" sz="2400" b="1">
                <a:solidFill>
                  <a:schemeClr val="tx1"/>
                </a:solidFill>
                <a:latin typeface="Arial Narrow" pitchFamily="34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 b="1">
                <a:solidFill>
                  <a:schemeClr val="tx1"/>
                </a:solidFill>
                <a:latin typeface="Arial Narrow" pitchFamily="34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 b="1">
                <a:solidFill>
                  <a:schemeClr val="tx1"/>
                </a:solidFill>
                <a:latin typeface="Arial Narrow" pitchFamily="34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 b="1">
                <a:solidFill>
                  <a:schemeClr val="tx1"/>
                </a:solidFill>
                <a:latin typeface="Arial Narrow" pitchFamily="34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 b="1">
                <a:solidFill>
                  <a:schemeClr val="tx1"/>
                </a:solidFill>
                <a:latin typeface="Arial Narrow" pitchFamily="34" charset="0"/>
              </a:defRPr>
            </a:lvl9pPr>
          </a:lstStyle>
          <a:p>
            <a:pPr>
              <a:buFont typeface="Arial" panose="020B0604020202020204" pitchFamily="34" charset="0"/>
              <a:buChar char="•"/>
            </a:pPr>
            <a:r>
              <a:rPr lang="es-CO" sz="1600" b="0" dirty="0">
                <a:latin typeface="Arial" charset="0"/>
                <a:cs typeface="Arial" charset="0"/>
              </a:rPr>
              <a:t>Fuente: </a:t>
            </a:r>
            <a:r>
              <a:rPr lang="es-CO" sz="1600" b="0" dirty="0" err="1">
                <a:latin typeface="Arial" charset="0"/>
                <a:cs typeface="Arial" charset="0"/>
              </a:rPr>
              <a:t>Kaggle</a:t>
            </a:r>
            <a:r>
              <a:rPr lang="es-CO" sz="1600" b="0" dirty="0">
                <a:latin typeface="Arial" charset="0"/>
                <a:cs typeface="Arial" charset="0"/>
              </a:rPr>
              <a:t> — </a:t>
            </a:r>
            <a:r>
              <a:rPr lang="es-CO" sz="1600" b="0" dirty="0" err="1">
                <a:latin typeface="Arial" charset="0"/>
                <a:cs typeface="Arial" charset="0"/>
              </a:rPr>
              <a:t>chizhikchi</a:t>
            </a:r>
            <a:r>
              <a:rPr lang="es-CO" sz="1600" b="0" dirty="0">
                <a:latin typeface="Arial" charset="0"/>
                <a:cs typeface="Arial" charset="0"/>
              </a:rPr>
              <a:t>/</a:t>
            </a:r>
            <a:r>
              <a:rPr lang="es-CO" sz="1600" b="0" dirty="0" err="1">
                <a:latin typeface="Arial" charset="0"/>
                <a:cs typeface="Arial" charset="0"/>
              </a:rPr>
              <a:t>andalusian-hotels-reviews-unbalanced</a:t>
            </a:r>
            <a:endParaRPr lang="es-CO" sz="1600" b="0" dirty="0">
              <a:latin typeface="Arial" charset="0"/>
              <a:cs typeface="Arial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sz="1600" b="0" dirty="0">
                <a:latin typeface="Arial" charset="0"/>
                <a:cs typeface="Arial" charset="0"/>
              </a:rPr>
              <a:t>18,172 reseñas de hoteles en español · 5 clases •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sz="1600" b="0" dirty="0">
                <a:latin typeface="Arial" charset="0"/>
                <a:cs typeface="Arial" charset="0"/>
              </a:rPr>
              <a:t>Variable objetivo: rating de 1 a 5 estrellas (</a:t>
            </a:r>
            <a:r>
              <a:rPr lang="es-MX" sz="1600" b="0" dirty="0" err="1">
                <a:latin typeface="Arial" charset="0"/>
                <a:cs typeface="Arial" charset="0"/>
              </a:rPr>
              <a:t>labels</a:t>
            </a:r>
            <a:r>
              <a:rPr lang="es-MX" sz="1600" b="0" dirty="0">
                <a:latin typeface="Arial" charset="0"/>
                <a:cs typeface="Arial" charset="0"/>
              </a:rPr>
              <a:t> 0-4 en PyTorch)</a:t>
            </a:r>
            <a:br>
              <a:rPr lang="es-CO" dirty="0"/>
            </a:br>
            <a:endParaRPr lang="es-CO" dirty="0"/>
          </a:p>
          <a:p>
            <a:pPr>
              <a:buFont typeface="Arial" panose="020B0604020202020204" pitchFamily="34" charset="0"/>
              <a:buChar char="•"/>
            </a:pPr>
            <a:r>
              <a:rPr lang="es-CO" b="0"/>
              <a:t>ss</a:t>
            </a:r>
            <a:endParaRPr lang="es-CO" b="0" dirty="0"/>
          </a:p>
          <a:p>
            <a:r>
              <a:rPr lang="es-CO" sz="1600" dirty="0">
                <a:solidFill>
                  <a:srgbClr val="FFC000"/>
                </a:solidFill>
                <a:latin typeface="Arial" charset="0"/>
                <a:cs typeface="Arial" charset="0"/>
              </a:rPr>
              <a:t>Limitaciones conocidas del </a:t>
            </a:r>
            <a:r>
              <a:rPr lang="es-CO" sz="1600" dirty="0" err="1">
                <a:solidFill>
                  <a:srgbClr val="FFC000"/>
                </a:solidFill>
                <a:latin typeface="Arial" charset="0"/>
                <a:cs typeface="Arial" charset="0"/>
              </a:rPr>
              <a:t>dataset</a:t>
            </a:r>
            <a:endParaRPr lang="es-CO" sz="1600" dirty="0">
              <a:solidFill>
                <a:srgbClr val="FFC000"/>
              </a:solidFill>
              <a:latin typeface="Arial" charset="0"/>
              <a:cs typeface="Arial" charset="0"/>
            </a:endParaRPr>
          </a:p>
          <a:p>
            <a:r>
              <a:rPr lang="es-MX" sz="1600" b="0" dirty="0">
                <a:latin typeface="Arial" charset="0"/>
                <a:cs typeface="Arial" charset="0"/>
              </a:rPr>
              <a:t>• 21% de duplicados exactos en </a:t>
            </a:r>
            <a:r>
              <a:rPr lang="es-MX" sz="1600" b="0" dirty="0" err="1">
                <a:latin typeface="Arial" charset="0"/>
                <a:cs typeface="Arial" charset="0"/>
              </a:rPr>
              <a:t>train</a:t>
            </a:r>
            <a:r>
              <a:rPr lang="es-MX" sz="1600" b="0" dirty="0">
                <a:latin typeface="Arial" charset="0"/>
                <a:cs typeface="Arial" charset="0"/>
              </a:rPr>
              <a:t> (2,674 muestras)</a:t>
            </a:r>
          </a:p>
          <a:p>
            <a:r>
              <a:rPr lang="es-CO" sz="1600" b="0" dirty="0">
                <a:latin typeface="Arial" charset="0"/>
                <a:cs typeface="Arial" charset="0"/>
              </a:rPr>
              <a:t>• Data </a:t>
            </a:r>
            <a:r>
              <a:rPr lang="es-CO" sz="1600" b="0" dirty="0" err="1">
                <a:latin typeface="Arial" charset="0"/>
                <a:cs typeface="Arial" charset="0"/>
              </a:rPr>
              <a:t>leakage</a:t>
            </a:r>
            <a:r>
              <a:rPr lang="es-CO" sz="1600" b="0" dirty="0">
                <a:latin typeface="Arial" charset="0"/>
                <a:cs typeface="Arial" charset="0"/>
              </a:rPr>
              <a:t>: Train/Test comparten 902 reseñas, Train/Val comparten 868</a:t>
            </a:r>
          </a:p>
          <a:p>
            <a:r>
              <a:rPr lang="es-MX" sz="1600" b="0" dirty="0">
                <a:latin typeface="Arial" charset="0"/>
                <a:cs typeface="Arial" charset="0"/>
              </a:rPr>
              <a:t>• Documentado explícitamente en el reporte técnico como limitación metodológica</a:t>
            </a:r>
            <a:endParaRPr lang="es-CO" sz="1600" b="0" dirty="0">
              <a:latin typeface="Arial" charset="0"/>
              <a:cs typeface="Arial" charset="0"/>
            </a:endParaRPr>
          </a:p>
          <a:p>
            <a:br>
              <a:rPr lang="es-CO" dirty="0"/>
            </a:br>
            <a:endParaRPr lang="es-CO" b="0" dirty="0"/>
          </a:p>
          <a:p>
            <a:br>
              <a:rPr lang="es-CO" dirty="0"/>
            </a:br>
            <a:endParaRPr lang="es-CO" altLang="es-CO" b="0" dirty="0">
              <a:solidFill>
                <a:schemeClr val="accent4">
                  <a:lumMod val="7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2" name="image11.png" descr="Figura 1. Distribución de clases en el dataset (conteo y porcentaje por split).">
            <a:extLst>
              <a:ext uri="{FF2B5EF4-FFF2-40B4-BE49-F238E27FC236}">
                <a16:creationId xmlns:a16="http://schemas.microsoft.com/office/drawing/2014/main" id="{7398746A-1D78-1FB1-BD51-D60575E4A9F3}"/>
              </a:ext>
            </a:extLst>
          </p:cNvPr>
          <p:cNvPicPr/>
          <p:nvPr/>
        </p:nvPicPr>
        <p:blipFill>
          <a:blip r:embed="rId4"/>
          <a:srcRect t="5541" r="30758"/>
          <a:stretch>
            <a:fillRect/>
          </a:stretch>
        </p:blipFill>
        <p:spPr>
          <a:xfrm>
            <a:off x="6448425" y="2089823"/>
            <a:ext cx="5046345" cy="3712820"/>
          </a:xfrm>
          <a:prstGeom prst="rect">
            <a:avLst/>
          </a:prstGeom>
          <a:ln/>
        </p:spPr>
      </p:pic>
    </p:spTree>
    <p:extLst>
      <p:ext uri="{BB962C8B-B14F-4D97-AF65-F5344CB8AC3E}">
        <p14:creationId xmlns:p14="http://schemas.microsoft.com/office/powerpoint/2010/main" val="414246032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719D60-A484-FCA9-E36A-749034AD01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Marcador de contenido 3">
            <a:extLst>
              <a:ext uri="{FF2B5EF4-FFF2-40B4-BE49-F238E27FC236}">
                <a16:creationId xmlns:a16="http://schemas.microsoft.com/office/drawing/2014/main" id="{CA9935CF-B8FD-48FE-882A-2AB0914CCEE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02636"/>
            <a:ext cx="12201128" cy="6863135"/>
          </a:xfrm>
        </p:spPr>
      </p:pic>
      <p:sp>
        <p:nvSpPr>
          <p:cNvPr id="31" name="Rectángulo 30">
            <a:extLst>
              <a:ext uri="{FF2B5EF4-FFF2-40B4-BE49-F238E27FC236}">
                <a16:creationId xmlns:a16="http://schemas.microsoft.com/office/drawing/2014/main" id="{63C52596-7BC2-070B-4D96-535A51C63649}"/>
              </a:ext>
            </a:extLst>
          </p:cNvPr>
          <p:cNvSpPr/>
          <p:nvPr/>
        </p:nvSpPr>
        <p:spPr>
          <a:xfrm>
            <a:off x="1156996" y="415481"/>
            <a:ext cx="7345737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s-MX" sz="3000" b="1" dirty="0" err="1">
                <a:solidFill>
                  <a:schemeClr val="bg1"/>
                </a:solidFill>
                <a:latin typeface="Arial" charset="0"/>
                <a:cs typeface="Arial" charset="0"/>
              </a:rPr>
              <a:t>Dataset</a:t>
            </a:r>
            <a:r>
              <a:rPr lang="es-MX" sz="3000" b="1" dirty="0">
                <a:solidFill>
                  <a:schemeClr val="bg1"/>
                </a:solidFill>
                <a:latin typeface="Arial" charset="0"/>
                <a:cs typeface="Arial" charset="0"/>
              </a:rPr>
              <a:t> — Longitud de Reseñas</a:t>
            </a:r>
            <a:endParaRPr lang="es-ES_tradnl" sz="3000" b="1" dirty="0">
              <a:solidFill>
                <a:schemeClr val="bg1"/>
              </a:solidFill>
              <a:latin typeface="Arial" charset="0"/>
              <a:cs typeface="Arial" charset="0"/>
            </a:endParaRPr>
          </a:p>
        </p:txBody>
      </p:sp>
      <p:graphicFrame>
        <p:nvGraphicFramePr>
          <p:cNvPr id="3" name="Tabla 2">
            <a:extLst>
              <a:ext uri="{FF2B5EF4-FFF2-40B4-BE49-F238E27FC236}">
                <a16:creationId xmlns:a16="http://schemas.microsoft.com/office/drawing/2014/main" id="{C261C031-6ADB-1B63-3875-0C86CEC297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9332242"/>
              </p:ext>
            </p:extLst>
          </p:nvPr>
        </p:nvGraphicFramePr>
        <p:xfrm>
          <a:off x="480270" y="4359567"/>
          <a:ext cx="11231459" cy="2286000"/>
        </p:xfrm>
        <a:graphic>
          <a:graphicData uri="http://schemas.openxmlformats.org/drawingml/2006/table">
            <a:tbl>
              <a:tblPr>
                <a:tableStyleId>{8EC20E35-A176-4012-BC5E-935CFFF8708E}</a:tableStyleId>
              </a:tblPr>
              <a:tblGrid>
                <a:gridCol w="3743819">
                  <a:extLst>
                    <a:ext uri="{9D8B030D-6E8A-4147-A177-3AD203B41FA5}">
                      <a16:colId xmlns:a16="http://schemas.microsoft.com/office/drawing/2014/main" val="285900527"/>
                    </a:ext>
                  </a:extLst>
                </a:gridCol>
                <a:gridCol w="3455834">
                  <a:extLst>
                    <a:ext uri="{9D8B030D-6E8A-4147-A177-3AD203B41FA5}">
                      <a16:colId xmlns:a16="http://schemas.microsoft.com/office/drawing/2014/main" val="3736993866"/>
                    </a:ext>
                  </a:extLst>
                </a:gridCol>
                <a:gridCol w="4031806">
                  <a:extLst>
                    <a:ext uri="{9D8B030D-6E8A-4147-A177-3AD203B41FA5}">
                      <a16:colId xmlns:a16="http://schemas.microsoft.com/office/drawing/2014/main" val="92599134"/>
                    </a:ext>
                  </a:extLst>
                </a:gridCol>
              </a:tblGrid>
              <a:tr h="21695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Estadística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Caracteres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Tokens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extLst>
                  <a:ext uri="{0D108BD9-81ED-4DB2-BD59-A6C34878D82A}">
                    <a16:rowId xmlns:a16="http://schemas.microsoft.com/office/drawing/2014/main" val="958087361"/>
                  </a:ext>
                </a:extLst>
              </a:tr>
              <a:tr h="2169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000" dirty="0">
                          <a:effectLst/>
                        </a:rPr>
                        <a:t>Media</a:t>
                      </a:r>
                      <a:endParaRPr lang="es-CO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456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78.5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1105501624"/>
                  </a:ext>
                </a:extLst>
              </a:tr>
              <a:tr h="2169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000" dirty="0">
                          <a:effectLst/>
                        </a:rPr>
                        <a:t>Desviación estándar</a:t>
                      </a:r>
                      <a:endParaRPr lang="es-CO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307.2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54.9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3973419251"/>
                  </a:ext>
                </a:extLst>
              </a:tr>
              <a:tr h="2169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000">
                          <a:effectLst/>
                        </a:rPr>
                        <a:t>Mínimo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61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7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2331205998"/>
                  </a:ext>
                </a:extLst>
              </a:tr>
              <a:tr h="2169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000">
                          <a:effectLst/>
                        </a:rPr>
                        <a:t>Percentil 25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250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42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3433077846"/>
                  </a:ext>
                </a:extLst>
              </a:tr>
              <a:tr h="2169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000">
                          <a:effectLst/>
                        </a:rPr>
                        <a:t>Mediana (P50)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 dirty="0">
                          <a:effectLst/>
                        </a:rPr>
                        <a:t>355</a:t>
                      </a:r>
                      <a:endParaRPr lang="es-CO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61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3078400867"/>
                  </a:ext>
                </a:extLst>
              </a:tr>
              <a:tr h="2169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000">
                          <a:effectLst/>
                        </a:rPr>
                        <a:t>Percentil 75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590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102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3218915565"/>
                  </a:ext>
                </a:extLst>
              </a:tr>
              <a:tr h="2169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000" dirty="0">
                          <a:effectLst/>
                        </a:rPr>
                        <a:t>Percentil 95 (MAX_LEN base)</a:t>
                      </a:r>
                      <a:endParaRPr lang="es-CO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790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148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1479252422"/>
                  </a:ext>
                </a:extLst>
              </a:tr>
              <a:tr h="2169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000" dirty="0">
                          <a:effectLst/>
                        </a:rPr>
                        <a:t>Máximo</a:t>
                      </a:r>
                      <a:endParaRPr lang="es-CO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7,777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 dirty="0">
                          <a:effectLst/>
                        </a:rPr>
                        <a:t>~1,300+</a:t>
                      </a:r>
                      <a:endParaRPr lang="es-CO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176354509"/>
                  </a:ext>
                </a:extLst>
              </a:tr>
            </a:tbl>
          </a:graphicData>
        </a:graphic>
      </p:graphicFrame>
      <p:pic>
        <p:nvPicPr>
          <p:cNvPr id="6" name="image3.png" descr="Figura 4. Boxplot de longitudes por clase. Las clases extremas (1★ y 5★) tienden a reseñas más cortas que las intermedias.">
            <a:extLst>
              <a:ext uri="{FF2B5EF4-FFF2-40B4-BE49-F238E27FC236}">
                <a16:creationId xmlns:a16="http://schemas.microsoft.com/office/drawing/2014/main" id="{5567E424-B5D7-1331-745D-0658D09669B1}"/>
              </a:ext>
            </a:extLst>
          </p:cNvPr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5661993" y="1919501"/>
            <a:ext cx="5524500" cy="1952625"/>
          </a:xfrm>
          <a:prstGeom prst="rect">
            <a:avLst/>
          </a:prstGeom>
          <a:ln/>
        </p:spPr>
      </p:pic>
      <p:sp>
        <p:nvSpPr>
          <p:cNvPr id="8" name="Rectangle 4">
            <a:extLst>
              <a:ext uri="{FF2B5EF4-FFF2-40B4-BE49-F238E27FC236}">
                <a16:creationId xmlns:a16="http://schemas.microsoft.com/office/drawing/2014/main" id="{A8333E11-8192-3C38-9AD6-49C28B2713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0270" y="1703548"/>
            <a:ext cx="5065582" cy="25325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 eaLnBrk="0" hangingPunct="0">
              <a:defRPr kumimoji="1" sz="2400" b="1">
                <a:solidFill>
                  <a:schemeClr val="tx1"/>
                </a:solidFill>
                <a:latin typeface="Arial Narrow" pitchFamily="34" charset="0"/>
              </a:defRPr>
            </a:lvl1pPr>
            <a:lvl2pPr marL="742950" indent="-285750" eaLnBrk="0" hangingPunct="0">
              <a:defRPr kumimoji="1" sz="2400" b="1">
                <a:solidFill>
                  <a:schemeClr val="tx1"/>
                </a:solidFill>
                <a:latin typeface="Arial Narrow" pitchFamily="34" charset="0"/>
              </a:defRPr>
            </a:lvl2pPr>
            <a:lvl3pPr marL="1143000" indent="-228600" eaLnBrk="0" hangingPunct="0">
              <a:defRPr kumimoji="1" sz="2400" b="1">
                <a:solidFill>
                  <a:schemeClr val="tx1"/>
                </a:solidFill>
                <a:latin typeface="Arial Narrow" pitchFamily="34" charset="0"/>
              </a:defRPr>
            </a:lvl3pPr>
            <a:lvl4pPr marL="1600200" indent="-228600" eaLnBrk="0" hangingPunct="0">
              <a:defRPr kumimoji="1" sz="2400" b="1">
                <a:solidFill>
                  <a:schemeClr val="tx1"/>
                </a:solidFill>
                <a:latin typeface="Arial Narrow" pitchFamily="34" charset="0"/>
              </a:defRPr>
            </a:lvl4pPr>
            <a:lvl5pPr marL="2057400" indent="-228600" eaLnBrk="0" hangingPunct="0">
              <a:defRPr kumimoji="1" sz="2400" b="1">
                <a:solidFill>
                  <a:schemeClr val="tx1"/>
                </a:solidFill>
                <a:latin typeface="Arial Narrow" pitchFamily="34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 b="1">
                <a:solidFill>
                  <a:schemeClr val="tx1"/>
                </a:solidFill>
                <a:latin typeface="Arial Narrow" pitchFamily="34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 b="1">
                <a:solidFill>
                  <a:schemeClr val="tx1"/>
                </a:solidFill>
                <a:latin typeface="Arial Narrow" pitchFamily="34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 b="1">
                <a:solidFill>
                  <a:schemeClr val="tx1"/>
                </a:solidFill>
                <a:latin typeface="Arial Narrow" pitchFamily="34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 b="1">
                <a:solidFill>
                  <a:schemeClr val="tx1"/>
                </a:solidFill>
                <a:latin typeface="Arial Narrow" pitchFamily="34" charset="0"/>
              </a:defRPr>
            </a:lvl9pPr>
          </a:lstStyle>
          <a:p>
            <a:pPr>
              <a:buFont typeface="Arial" panose="020B0604020202020204" pitchFamily="34" charset="0"/>
              <a:buChar char="•"/>
            </a:pPr>
            <a:r>
              <a:rPr lang="es-CO" sz="1600" b="0" dirty="0">
                <a:latin typeface="Arial" charset="0"/>
                <a:cs typeface="Arial" charset="0"/>
              </a:rPr>
              <a:t>MAX_LEN = 150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CO" sz="1600" b="0" dirty="0">
                <a:latin typeface="Arial" charset="0"/>
                <a:cs typeface="Arial" charset="0"/>
              </a:rPr>
              <a:t>MAX_LEN = 200</a:t>
            </a:r>
            <a:br>
              <a:rPr lang="es-CO" sz="1600" b="0" dirty="0">
                <a:latin typeface="Arial" charset="0"/>
                <a:cs typeface="Arial" charset="0"/>
              </a:rPr>
            </a:br>
            <a:endParaRPr lang="es-CO" altLang="es-CO" sz="1600" b="0" dirty="0">
              <a:latin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74563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0ED17B-391D-BF48-930F-3451A0EDE4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Marcador de contenido 3">
            <a:extLst>
              <a:ext uri="{FF2B5EF4-FFF2-40B4-BE49-F238E27FC236}">
                <a16:creationId xmlns:a16="http://schemas.microsoft.com/office/drawing/2014/main" id="{08C7ECC4-3607-2D7F-D6B5-8B9D01013EF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201128" cy="6863135"/>
          </a:xfrm>
        </p:spPr>
      </p:pic>
      <p:sp>
        <p:nvSpPr>
          <p:cNvPr id="31" name="Rectángulo 30">
            <a:extLst>
              <a:ext uri="{FF2B5EF4-FFF2-40B4-BE49-F238E27FC236}">
                <a16:creationId xmlns:a16="http://schemas.microsoft.com/office/drawing/2014/main" id="{3C8F96A4-E864-B603-AC51-846559A96E70}"/>
              </a:ext>
            </a:extLst>
          </p:cNvPr>
          <p:cNvSpPr/>
          <p:nvPr/>
        </p:nvSpPr>
        <p:spPr>
          <a:xfrm>
            <a:off x="1341913" y="583285"/>
            <a:ext cx="7160820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s-MX" sz="3000" b="1" dirty="0" err="1">
                <a:solidFill>
                  <a:schemeClr val="bg1"/>
                </a:solidFill>
                <a:latin typeface="Arial" charset="0"/>
                <a:cs typeface="Arial" charset="0"/>
              </a:rPr>
              <a:t>Dataset</a:t>
            </a:r>
            <a:r>
              <a:rPr lang="es-MX" sz="3000" b="1" dirty="0">
                <a:solidFill>
                  <a:schemeClr val="bg1"/>
                </a:solidFill>
                <a:latin typeface="Arial" charset="0"/>
                <a:cs typeface="Arial" charset="0"/>
              </a:rPr>
              <a:t> - Vocabulario</a:t>
            </a:r>
            <a:endParaRPr lang="es-ES_tradnl" sz="3000" b="1" dirty="0">
              <a:solidFill>
                <a:schemeClr val="bg1"/>
              </a:solidFill>
              <a:latin typeface="Arial" charset="0"/>
              <a:cs typeface="Arial" charset="0"/>
            </a:endParaRPr>
          </a:p>
        </p:txBody>
      </p: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376B0A5A-4D74-165A-7C2D-0D67941B2D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85533"/>
              </p:ext>
            </p:extLst>
          </p:nvPr>
        </p:nvGraphicFramePr>
        <p:xfrm>
          <a:off x="968189" y="4596632"/>
          <a:ext cx="10445674" cy="1685014"/>
        </p:xfrm>
        <a:graphic>
          <a:graphicData uri="http://schemas.openxmlformats.org/drawingml/2006/table">
            <a:tbl>
              <a:tblPr>
                <a:tableStyleId>{8EC20E35-A176-4012-BC5E-935CFFF8708E}</a:tableStyleId>
              </a:tblPr>
              <a:tblGrid>
                <a:gridCol w="3571171">
                  <a:extLst>
                    <a:ext uri="{9D8B030D-6E8A-4147-A177-3AD203B41FA5}">
                      <a16:colId xmlns:a16="http://schemas.microsoft.com/office/drawing/2014/main" val="1371550479"/>
                    </a:ext>
                  </a:extLst>
                </a:gridCol>
                <a:gridCol w="2231981">
                  <a:extLst>
                    <a:ext uri="{9D8B030D-6E8A-4147-A177-3AD203B41FA5}">
                      <a16:colId xmlns:a16="http://schemas.microsoft.com/office/drawing/2014/main" val="4133109922"/>
                    </a:ext>
                  </a:extLst>
                </a:gridCol>
                <a:gridCol w="4642522">
                  <a:extLst>
                    <a:ext uri="{9D8B030D-6E8A-4147-A177-3AD203B41FA5}">
                      <a16:colId xmlns:a16="http://schemas.microsoft.com/office/drawing/2014/main" val="1468979135"/>
                    </a:ext>
                  </a:extLst>
                </a:gridCol>
              </a:tblGrid>
              <a:tr h="24521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Tipo de vocabulario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Tokens únicos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Observación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extLst>
                  <a:ext uri="{0D108BD9-81ED-4DB2-BD59-A6C34878D82A}">
                    <a16:rowId xmlns:a16="http://schemas.microsoft.com/office/drawing/2014/main" val="1518944819"/>
                  </a:ext>
                </a:extLst>
              </a:tr>
              <a:tr h="3923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000">
                          <a:effectLst/>
                        </a:rPr>
                        <a:t>Bruto (sin limpieza)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57,231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Incluye puntuación, mayúsculas, variantes ortográficas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273536346"/>
                  </a:ext>
                </a:extLst>
              </a:tr>
              <a:tr h="2452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000">
                          <a:effectLst/>
                        </a:rPr>
                        <a:t>Lowercase sin puntuación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52,449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Normalización básica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4163798538"/>
                  </a:ext>
                </a:extLst>
              </a:tr>
              <a:tr h="3923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000">
                          <a:effectLst/>
                        </a:rPr>
                        <a:t>Limpio (con clean_text)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27,967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Reducción del 51.1% respecto al bruto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4127902480"/>
                  </a:ext>
                </a:extLst>
              </a:tr>
              <a:tr h="3923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000">
                          <a:effectLst/>
                        </a:rPr>
                        <a:t>VOCAB_SIZE usado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20,000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 dirty="0">
                          <a:effectLst/>
                        </a:rPr>
                        <a:t>Cubre el 99.2% de todos los tokens del corpus limpio</a:t>
                      </a:r>
                      <a:endParaRPr lang="es-CO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2782045047"/>
                  </a:ext>
                </a:extLst>
              </a:tr>
            </a:tbl>
          </a:graphicData>
        </a:graphic>
      </p:graphicFrame>
      <p:pic>
        <p:nvPicPr>
          <p:cNvPr id="7" name="image16.png" descr="Figura 5. Distribución Zipf del vocabulario y curva de cobertura acumulada. El top-20,000 palabras cubre el 99.2% de todos los tokens.">
            <a:extLst>
              <a:ext uri="{FF2B5EF4-FFF2-40B4-BE49-F238E27FC236}">
                <a16:creationId xmlns:a16="http://schemas.microsoft.com/office/drawing/2014/main" id="{9086E392-8E9E-6BDD-29C4-ED185D7F5F49}"/>
              </a:ext>
            </a:extLst>
          </p:cNvPr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5924939" y="1838862"/>
            <a:ext cx="5290431" cy="2176281"/>
          </a:xfrm>
          <a:prstGeom prst="rect">
            <a:avLst/>
          </a:prstGeom>
          <a:ln/>
        </p:spPr>
      </p:pic>
      <p:sp>
        <p:nvSpPr>
          <p:cNvPr id="8" name="Rectangle 4">
            <a:extLst>
              <a:ext uri="{FF2B5EF4-FFF2-40B4-BE49-F238E27FC236}">
                <a16:creationId xmlns:a16="http://schemas.microsoft.com/office/drawing/2014/main" id="{1C281B93-BB92-F336-36AD-B4A9EB5BD6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6051" y="1815516"/>
            <a:ext cx="5065582" cy="25325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 eaLnBrk="0" hangingPunct="0">
              <a:defRPr kumimoji="1" sz="2400" b="1">
                <a:solidFill>
                  <a:schemeClr val="tx1"/>
                </a:solidFill>
                <a:latin typeface="Arial Narrow" pitchFamily="34" charset="0"/>
              </a:defRPr>
            </a:lvl1pPr>
            <a:lvl2pPr marL="742950" indent="-285750" eaLnBrk="0" hangingPunct="0">
              <a:defRPr kumimoji="1" sz="2400" b="1">
                <a:solidFill>
                  <a:schemeClr val="tx1"/>
                </a:solidFill>
                <a:latin typeface="Arial Narrow" pitchFamily="34" charset="0"/>
              </a:defRPr>
            </a:lvl2pPr>
            <a:lvl3pPr marL="1143000" indent="-228600" eaLnBrk="0" hangingPunct="0">
              <a:defRPr kumimoji="1" sz="2400" b="1">
                <a:solidFill>
                  <a:schemeClr val="tx1"/>
                </a:solidFill>
                <a:latin typeface="Arial Narrow" pitchFamily="34" charset="0"/>
              </a:defRPr>
            </a:lvl3pPr>
            <a:lvl4pPr marL="1600200" indent="-228600" eaLnBrk="0" hangingPunct="0">
              <a:defRPr kumimoji="1" sz="2400" b="1">
                <a:solidFill>
                  <a:schemeClr val="tx1"/>
                </a:solidFill>
                <a:latin typeface="Arial Narrow" pitchFamily="34" charset="0"/>
              </a:defRPr>
            </a:lvl4pPr>
            <a:lvl5pPr marL="2057400" indent="-228600" eaLnBrk="0" hangingPunct="0">
              <a:defRPr kumimoji="1" sz="2400" b="1">
                <a:solidFill>
                  <a:schemeClr val="tx1"/>
                </a:solidFill>
                <a:latin typeface="Arial Narrow" pitchFamily="34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 b="1">
                <a:solidFill>
                  <a:schemeClr val="tx1"/>
                </a:solidFill>
                <a:latin typeface="Arial Narrow" pitchFamily="34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 b="1">
                <a:solidFill>
                  <a:schemeClr val="tx1"/>
                </a:solidFill>
                <a:latin typeface="Arial Narrow" pitchFamily="34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 b="1">
                <a:solidFill>
                  <a:schemeClr val="tx1"/>
                </a:solidFill>
                <a:latin typeface="Arial Narrow" pitchFamily="34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 b="1">
                <a:solidFill>
                  <a:schemeClr val="tx1"/>
                </a:solidFill>
                <a:latin typeface="Arial Narrow" pitchFamily="34" charset="0"/>
              </a:defRPr>
            </a:lvl9pPr>
          </a:lstStyle>
          <a:p>
            <a:r>
              <a:rPr lang="es-MX" sz="1600" b="0" dirty="0">
                <a:latin typeface="Arial" charset="0"/>
                <a:cs typeface="Arial" charset="0"/>
              </a:rPr>
              <a:t>• Tokens únicos brutos: ~57,231</a:t>
            </a:r>
          </a:p>
          <a:p>
            <a:r>
              <a:rPr lang="es-MX" sz="1600" b="0" dirty="0">
                <a:latin typeface="Arial" charset="0"/>
                <a:cs typeface="Arial" charset="0"/>
              </a:rPr>
              <a:t>• Tras limpieza y normalización: ~20,000 tokens activos</a:t>
            </a:r>
          </a:p>
          <a:p>
            <a:r>
              <a:rPr lang="es-MX" sz="1600" b="0" dirty="0">
                <a:latin typeface="Arial" charset="0"/>
                <a:cs typeface="Arial" charset="0"/>
              </a:rPr>
              <a:t>• VOCAB_SIZE = 20,000 ® 99.2% de cobertura del corpus </a:t>
            </a:r>
          </a:p>
          <a:p>
            <a:r>
              <a:rPr lang="es-MX" sz="1600" b="0" dirty="0">
                <a:latin typeface="Arial" charset="0"/>
                <a:cs typeface="Arial" charset="0"/>
              </a:rPr>
              <a:t>• Stop </a:t>
            </a:r>
            <a:r>
              <a:rPr lang="es-MX" sz="1600" b="0" dirty="0" err="1">
                <a:latin typeface="Arial" charset="0"/>
                <a:cs typeface="Arial" charset="0"/>
              </a:rPr>
              <a:t>words</a:t>
            </a:r>
            <a:r>
              <a:rPr lang="es-MX" sz="1600" b="0" dirty="0">
                <a:latin typeface="Arial" charset="0"/>
                <a:cs typeface="Arial" charset="0"/>
              </a:rPr>
              <a:t> CONSERVADAS — críticas para sentimiento </a:t>
            </a:r>
          </a:p>
          <a:p>
            <a:r>
              <a:rPr lang="es-MX" sz="1600" b="0" dirty="0">
                <a:latin typeface="Arial" charset="0"/>
                <a:cs typeface="Arial" charset="0"/>
              </a:rPr>
              <a:t>• Tildes y ñ PRESERVADAS — el español lo requiere</a:t>
            </a:r>
            <a:br>
              <a:rPr lang="es-CO" dirty="0"/>
            </a:br>
            <a:endParaRPr lang="es-CO" b="0" dirty="0"/>
          </a:p>
          <a:p>
            <a:br>
              <a:rPr lang="es-CO" dirty="0"/>
            </a:br>
            <a:endParaRPr lang="es-CO" altLang="es-CO" b="0" dirty="0">
              <a:solidFill>
                <a:schemeClr val="accent4">
                  <a:lumMod val="7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40320781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6CD3AA-35E5-64F6-596F-320954CE5B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Marcador de contenido 3">
            <a:extLst>
              <a:ext uri="{FF2B5EF4-FFF2-40B4-BE49-F238E27FC236}">
                <a16:creationId xmlns:a16="http://schemas.microsoft.com/office/drawing/2014/main" id="{DFF29134-5324-8EB3-0016-9EC66024ED8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201128" cy="6863135"/>
          </a:xfrm>
        </p:spPr>
      </p:pic>
      <p:sp>
        <p:nvSpPr>
          <p:cNvPr id="31" name="Rectángulo 30">
            <a:extLst>
              <a:ext uri="{FF2B5EF4-FFF2-40B4-BE49-F238E27FC236}">
                <a16:creationId xmlns:a16="http://schemas.microsoft.com/office/drawing/2014/main" id="{8D91873A-080B-E430-FBD5-543256CB6912}"/>
              </a:ext>
            </a:extLst>
          </p:cNvPr>
          <p:cNvSpPr/>
          <p:nvPr/>
        </p:nvSpPr>
        <p:spPr>
          <a:xfrm>
            <a:off x="1341913" y="583285"/>
            <a:ext cx="7160820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s-MX" sz="3000" b="1" dirty="0">
                <a:solidFill>
                  <a:schemeClr val="bg1"/>
                </a:solidFill>
                <a:latin typeface="Arial" charset="0"/>
                <a:cs typeface="Arial" charset="0"/>
              </a:rPr>
              <a:t>Pipeline de preprocesamiento</a:t>
            </a:r>
            <a:endParaRPr lang="es-ES_tradnl" sz="3000" b="1" dirty="0">
              <a:solidFill>
                <a:schemeClr val="bg1"/>
              </a:solidFill>
              <a:latin typeface="Arial" charset="0"/>
              <a:cs typeface="Arial" charset="0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id="{79828396-D0BF-A203-B712-484D9F684B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6051" y="1815516"/>
            <a:ext cx="9311010" cy="25325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 eaLnBrk="0" hangingPunct="0">
              <a:defRPr kumimoji="1" sz="2400" b="1">
                <a:solidFill>
                  <a:schemeClr val="tx1"/>
                </a:solidFill>
                <a:latin typeface="Arial Narrow" pitchFamily="34" charset="0"/>
              </a:defRPr>
            </a:lvl1pPr>
            <a:lvl2pPr marL="742950" indent="-285750" eaLnBrk="0" hangingPunct="0">
              <a:defRPr kumimoji="1" sz="2400" b="1">
                <a:solidFill>
                  <a:schemeClr val="tx1"/>
                </a:solidFill>
                <a:latin typeface="Arial Narrow" pitchFamily="34" charset="0"/>
              </a:defRPr>
            </a:lvl2pPr>
            <a:lvl3pPr marL="1143000" indent="-228600" eaLnBrk="0" hangingPunct="0">
              <a:defRPr kumimoji="1" sz="2400" b="1">
                <a:solidFill>
                  <a:schemeClr val="tx1"/>
                </a:solidFill>
                <a:latin typeface="Arial Narrow" pitchFamily="34" charset="0"/>
              </a:defRPr>
            </a:lvl3pPr>
            <a:lvl4pPr marL="1600200" indent="-228600" eaLnBrk="0" hangingPunct="0">
              <a:defRPr kumimoji="1" sz="2400" b="1">
                <a:solidFill>
                  <a:schemeClr val="tx1"/>
                </a:solidFill>
                <a:latin typeface="Arial Narrow" pitchFamily="34" charset="0"/>
              </a:defRPr>
            </a:lvl4pPr>
            <a:lvl5pPr marL="2057400" indent="-228600" eaLnBrk="0" hangingPunct="0">
              <a:defRPr kumimoji="1" sz="2400" b="1">
                <a:solidFill>
                  <a:schemeClr val="tx1"/>
                </a:solidFill>
                <a:latin typeface="Arial Narrow" pitchFamily="34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 b="1">
                <a:solidFill>
                  <a:schemeClr val="tx1"/>
                </a:solidFill>
                <a:latin typeface="Arial Narrow" pitchFamily="34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 b="1">
                <a:solidFill>
                  <a:schemeClr val="tx1"/>
                </a:solidFill>
                <a:latin typeface="Arial Narrow" pitchFamily="34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 b="1">
                <a:solidFill>
                  <a:schemeClr val="tx1"/>
                </a:solidFill>
                <a:latin typeface="Arial Narrow" pitchFamily="34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 b="1">
                <a:solidFill>
                  <a:schemeClr val="tx1"/>
                </a:solidFill>
                <a:latin typeface="Arial Narrow" pitchFamily="34" charset="0"/>
              </a:defRPr>
            </a:lvl9pPr>
          </a:lstStyle>
          <a:p>
            <a:pPr>
              <a:buFont typeface="Arial" panose="020B0604020202020204" pitchFamily="34" charset="0"/>
              <a:buChar char="•"/>
            </a:pPr>
            <a:r>
              <a:rPr lang="es-MX" sz="1600" b="0" dirty="0">
                <a:latin typeface="Arial" charset="0"/>
                <a:cs typeface="Arial" charset="0"/>
              </a:rPr>
              <a:t>Stop </a:t>
            </a:r>
            <a:r>
              <a:rPr lang="es-MX" sz="1600" b="0" dirty="0" err="1">
                <a:latin typeface="Arial" charset="0"/>
                <a:cs typeface="Arial" charset="0"/>
              </a:rPr>
              <a:t>words</a:t>
            </a:r>
            <a:r>
              <a:rPr lang="es-MX" sz="1600" b="0" dirty="0">
                <a:latin typeface="Arial" charset="0"/>
                <a:cs typeface="Arial" charset="0"/>
              </a:rPr>
              <a:t>: Conservadas (vitales para detectar negaciones y sentimiento).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sz="1600" b="0" dirty="0">
                <a:latin typeface="Arial" charset="0"/>
                <a:cs typeface="Arial" charset="0"/>
              </a:rPr>
              <a:t>Tildes: Preservadas (esenciales para evitar ambigüedades léxicas en español).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sz="1600" b="0" dirty="0" err="1">
                <a:latin typeface="Arial" charset="0"/>
                <a:cs typeface="Arial" charset="0"/>
              </a:rPr>
              <a:t>Tokenización</a:t>
            </a:r>
            <a:r>
              <a:rPr lang="es-MX" sz="1600" b="0" dirty="0">
                <a:latin typeface="Arial" charset="0"/>
                <a:cs typeface="Arial" charset="0"/>
              </a:rPr>
              <a:t>: Palabras (Top 20k, óptimo para arquitecturas LSTM).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sz="1600" b="0" dirty="0">
                <a:latin typeface="Arial" charset="0"/>
                <a:cs typeface="Arial" charset="0"/>
              </a:rPr>
              <a:t>MAX_LEN: 150-200 tokens (basado en el percentil 95 = 148).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sz="1600" b="0" dirty="0" err="1">
                <a:latin typeface="Arial" charset="0"/>
                <a:cs typeface="Arial" charset="0"/>
              </a:rPr>
              <a:t>Embeddings</a:t>
            </a:r>
            <a:r>
              <a:rPr lang="es-MX" sz="1600" b="0" dirty="0">
                <a:latin typeface="Arial" charset="0"/>
                <a:cs typeface="Arial" charset="0"/>
              </a:rPr>
              <a:t>: Entrenados desde cero (para asegurar una comparación técnica imparcial).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sz="1600" b="0" dirty="0" err="1">
                <a:latin typeface="Arial" charset="0"/>
                <a:cs typeface="Arial" charset="0"/>
              </a:rPr>
              <a:t>Splits</a:t>
            </a:r>
            <a:r>
              <a:rPr lang="es-MX" sz="1600" b="0" dirty="0">
                <a:latin typeface="Arial" charset="0"/>
                <a:cs typeface="Arial" charset="0"/>
              </a:rPr>
              <a:t>: 70/15/15 estratificados con semilla 42 (para garantizar reproducibilidad).</a:t>
            </a:r>
            <a:br>
              <a:rPr lang="es-CO" dirty="0"/>
            </a:br>
            <a:endParaRPr lang="es-CO" altLang="es-CO" b="0" dirty="0">
              <a:solidFill>
                <a:schemeClr val="accent4">
                  <a:lumMod val="7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aphicFrame>
        <p:nvGraphicFramePr>
          <p:cNvPr id="3" name="Tabla 2">
            <a:extLst>
              <a:ext uri="{FF2B5EF4-FFF2-40B4-BE49-F238E27FC236}">
                <a16:creationId xmlns:a16="http://schemas.microsoft.com/office/drawing/2014/main" id="{E8CF2AE8-C22C-5356-31E0-ADD234CFB3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1502119"/>
              </p:ext>
            </p:extLst>
          </p:nvPr>
        </p:nvGraphicFramePr>
        <p:xfrm>
          <a:off x="602789" y="4589600"/>
          <a:ext cx="10644300" cy="2032000"/>
        </p:xfrm>
        <a:graphic>
          <a:graphicData uri="http://schemas.openxmlformats.org/drawingml/2006/table">
            <a:tbl>
              <a:tblPr>
                <a:tableStyleId>{8EC20E35-A176-4012-BC5E-935CFFF8708E}</a:tableStyleId>
              </a:tblPr>
              <a:tblGrid>
                <a:gridCol w="2843029">
                  <a:extLst>
                    <a:ext uri="{9D8B030D-6E8A-4147-A177-3AD203B41FA5}">
                      <a16:colId xmlns:a16="http://schemas.microsoft.com/office/drawing/2014/main" val="805762746"/>
                    </a:ext>
                  </a:extLst>
                </a:gridCol>
                <a:gridCol w="7801271">
                  <a:extLst>
                    <a:ext uri="{9D8B030D-6E8A-4147-A177-3AD203B41FA5}">
                      <a16:colId xmlns:a16="http://schemas.microsoft.com/office/drawing/2014/main" val="296528404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Función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Descripción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extLst>
                  <a:ext uri="{0D108BD9-81ED-4DB2-BD59-A6C34878D82A}">
                    <a16:rowId xmlns:a16="http://schemas.microsoft.com/office/drawing/2014/main" val="14522655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000">
                          <a:effectLst/>
                        </a:rPr>
                        <a:t>clean_text()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Lowercase → normalización NFC (preserva tildes y ñ) → elimina URLs/emails/números → elimina caracteres especiales → normaliza espacios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41519794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000">
                          <a:effectLst/>
                        </a:rPr>
                        <a:t>build_tokenizer()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Construye vocabulario top-20,000 palabras SOLO desde train. Reserva &lt;PAD&gt;=0, &lt;UNK&gt;=1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34176064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000">
                          <a:effectLst/>
                        </a:rPr>
                        <a:t>encode_sequences()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Convierte texto a índices enteros con padding/truncado a longitud fija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4558739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000">
                          <a:effectLst/>
                        </a:rPr>
                        <a:t>build_splits()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Splits estratificados 70/15/15, semilla=42, guardados como CSV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35615409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000">
                          <a:effectLst/>
                        </a:rPr>
                        <a:t>compute_class_weights()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Pesos balanced (n_total / n_classes × n_c) para CrossEntropyLoss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4278208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000">
                          <a:effectLst/>
                        </a:rPr>
                        <a:t>ReviewDataset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Dataset PyTorch: devuelve (secuencia, etiqueta) como tensores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5482596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000">
                          <a:effectLst/>
                        </a:rPr>
                        <a:t>build_pipeline()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000" dirty="0">
                          <a:effectLst/>
                        </a:rPr>
                        <a:t>Orquesta </a:t>
                      </a:r>
                      <a:r>
                        <a:rPr lang="en-US" sz="1000" dirty="0" err="1">
                          <a:effectLst/>
                        </a:rPr>
                        <a:t>todo</a:t>
                      </a:r>
                      <a:r>
                        <a:rPr lang="en-US" sz="1000" dirty="0">
                          <a:effectLst/>
                        </a:rPr>
                        <a:t> y </a:t>
                      </a:r>
                      <a:r>
                        <a:rPr lang="en-US" sz="1000" dirty="0" err="1">
                          <a:effectLst/>
                        </a:rPr>
                        <a:t>devuelve</a:t>
                      </a:r>
                      <a:r>
                        <a:rPr lang="en-US" sz="1000" dirty="0">
                          <a:effectLst/>
                        </a:rPr>
                        <a:t> train/</a:t>
                      </a:r>
                      <a:r>
                        <a:rPr lang="en-US" sz="1000" dirty="0" err="1">
                          <a:effectLst/>
                        </a:rPr>
                        <a:t>val</a:t>
                      </a:r>
                      <a:r>
                        <a:rPr lang="en-US" sz="1000" dirty="0">
                          <a:effectLst/>
                        </a:rPr>
                        <a:t>/test </a:t>
                      </a:r>
                      <a:r>
                        <a:rPr lang="en-US" sz="1000" dirty="0" err="1">
                          <a:effectLst/>
                        </a:rPr>
                        <a:t>DataLoaders</a:t>
                      </a:r>
                      <a:r>
                        <a:rPr lang="en-US" sz="1000" dirty="0">
                          <a:effectLst/>
                        </a:rPr>
                        <a:t> + word2idx + </a:t>
                      </a:r>
                      <a:r>
                        <a:rPr lang="en-US" sz="1000" dirty="0" err="1">
                          <a:effectLst/>
                        </a:rPr>
                        <a:t>class_weights</a:t>
                      </a:r>
                      <a:endParaRPr lang="es-CO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19827855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837701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65F75C-50AE-64ED-5F0D-A593B9A8EE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Marcador de contenido 3">
            <a:extLst>
              <a:ext uri="{FF2B5EF4-FFF2-40B4-BE49-F238E27FC236}">
                <a16:creationId xmlns:a16="http://schemas.microsoft.com/office/drawing/2014/main" id="{99549145-5CB8-EF1F-5BAF-09C3A87D9E6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201128" cy="6863135"/>
          </a:xfrm>
        </p:spPr>
      </p:pic>
      <p:sp>
        <p:nvSpPr>
          <p:cNvPr id="31" name="Rectángulo 30">
            <a:extLst>
              <a:ext uri="{FF2B5EF4-FFF2-40B4-BE49-F238E27FC236}">
                <a16:creationId xmlns:a16="http://schemas.microsoft.com/office/drawing/2014/main" id="{9299F60A-62D4-0B14-CD23-C74F47844ED7}"/>
              </a:ext>
            </a:extLst>
          </p:cNvPr>
          <p:cNvSpPr/>
          <p:nvPr/>
        </p:nvSpPr>
        <p:spPr>
          <a:xfrm>
            <a:off x="1341913" y="583285"/>
            <a:ext cx="7160820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s-MX" sz="3000" b="1" dirty="0">
                <a:solidFill>
                  <a:schemeClr val="bg1"/>
                </a:solidFill>
                <a:latin typeface="Arial" charset="0"/>
                <a:cs typeface="Arial" charset="0"/>
              </a:rPr>
              <a:t>Infraestructura de entrenamiento</a:t>
            </a:r>
            <a:endParaRPr lang="es-ES_tradnl" sz="3000" b="1" dirty="0">
              <a:solidFill>
                <a:schemeClr val="bg1"/>
              </a:solidFill>
              <a:latin typeface="Arial" charset="0"/>
              <a:cs typeface="Arial" charset="0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id="{DD25BAC9-9D1B-255B-5519-004B9BBF16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6050" y="1815516"/>
            <a:ext cx="11425949" cy="25325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 eaLnBrk="0" hangingPunct="0">
              <a:defRPr kumimoji="1" sz="2400" b="1">
                <a:solidFill>
                  <a:schemeClr val="tx1"/>
                </a:solidFill>
                <a:latin typeface="Arial Narrow" pitchFamily="34" charset="0"/>
              </a:defRPr>
            </a:lvl1pPr>
            <a:lvl2pPr marL="742950" indent="-285750" eaLnBrk="0" hangingPunct="0">
              <a:defRPr kumimoji="1" sz="2400" b="1">
                <a:solidFill>
                  <a:schemeClr val="tx1"/>
                </a:solidFill>
                <a:latin typeface="Arial Narrow" pitchFamily="34" charset="0"/>
              </a:defRPr>
            </a:lvl2pPr>
            <a:lvl3pPr marL="1143000" indent="-228600" eaLnBrk="0" hangingPunct="0">
              <a:defRPr kumimoji="1" sz="2400" b="1">
                <a:solidFill>
                  <a:schemeClr val="tx1"/>
                </a:solidFill>
                <a:latin typeface="Arial Narrow" pitchFamily="34" charset="0"/>
              </a:defRPr>
            </a:lvl3pPr>
            <a:lvl4pPr marL="1600200" indent="-228600" eaLnBrk="0" hangingPunct="0">
              <a:defRPr kumimoji="1" sz="2400" b="1">
                <a:solidFill>
                  <a:schemeClr val="tx1"/>
                </a:solidFill>
                <a:latin typeface="Arial Narrow" pitchFamily="34" charset="0"/>
              </a:defRPr>
            </a:lvl4pPr>
            <a:lvl5pPr marL="2057400" indent="-228600" eaLnBrk="0" hangingPunct="0">
              <a:defRPr kumimoji="1" sz="2400" b="1">
                <a:solidFill>
                  <a:schemeClr val="tx1"/>
                </a:solidFill>
                <a:latin typeface="Arial Narrow" pitchFamily="34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 b="1">
                <a:solidFill>
                  <a:schemeClr val="tx1"/>
                </a:solidFill>
                <a:latin typeface="Arial Narrow" pitchFamily="34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 b="1">
                <a:solidFill>
                  <a:schemeClr val="tx1"/>
                </a:solidFill>
                <a:latin typeface="Arial Narrow" pitchFamily="34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 b="1">
                <a:solidFill>
                  <a:schemeClr val="tx1"/>
                </a:solidFill>
                <a:latin typeface="Arial Narrow" pitchFamily="34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 b="1">
                <a:solidFill>
                  <a:schemeClr val="tx1"/>
                </a:solidFill>
                <a:latin typeface="Arial Narrow" pitchFamily="34" charset="0"/>
              </a:defRPr>
            </a:lvl9pPr>
          </a:lstStyle>
          <a:p>
            <a:r>
              <a:rPr lang="es-CO" sz="1600" dirty="0">
                <a:solidFill>
                  <a:srgbClr val="FFC000"/>
                </a:solidFill>
                <a:latin typeface="Arial" charset="0"/>
                <a:cs typeface="Arial" charset="0"/>
              </a:rPr>
              <a:t>src/training.py</a:t>
            </a:r>
          </a:p>
          <a:p>
            <a:r>
              <a:rPr lang="es-CO" sz="1600" b="0" dirty="0">
                <a:latin typeface="Arial" charset="0"/>
                <a:cs typeface="Arial" charset="0"/>
              </a:rPr>
              <a:t>• </a:t>
            </a:r>
            <a:r>
              <a:rPr lang="es-CO" sz="1600" b="0" dirty="0" err="1">
                <a:latin typeface="Arial" charset="0"/>
                <a:cs typeface="Arial" charset="0"/>
              </a:rPr>
              <a:t>train</a:t>
            </a:r>
            <a:r>
              <a:rPr lang="es-CO" sz="1600" b="0" dirty="0">
                <a:latin typeface="Arial" charset="0"/>
                <a:cs typeface="Arial" charset="0"/>
              </a:rPr>
              <a:t>(</a:t>
            </a:r>
            <a:r>
              <a:rPr lang="es-CO" sz="1600" b="0" dirty="0" err="1">
                <a:latin typeface="Arial" charset="0"/>
                <a:cs typeface="Arial" charset="0"/>
              </a:rPr>
              <a:t>model</a:t>
            </a:r>
            <a:r>
              <a:rPr lang="es-CO" sz="1600" b="0" dirty="0">
                <a:latin typeface="Arial" charset="0"/>
                <a:cs typeface="Arial" charset="0"/>
              </a:rPr>
              <a:t>, </a:t>
            </a:r>
            <a:r>
              <a:rPr lang="es-CO" sz="1600" b="0" dirty="0" err="1">
                <a:latin typeface="Arial" charset="0"/>
                <a:cs typeface="Arial" charset="0"/>
              </a:rPr>
              <a:t>train_loader</a:t>
            </a:r>
            <a:r>
              <a:rPr lang="es-CO" sz="1600" b="0" dirty="0">
                <a:latin typeface="Arial" charset="0"/>
                <a:cs typeface="Arial" charset="0"/>
              </a:rPr>
              <a:t>, </a:t>
            </a:r>
            <a:r>
              <a:rPr lang="es-CO" sz="1600" b="0" dirty="0" err="1">
                <a:latin typeface="Arial" charset="0"/>
                <a:cs typeface="Arial" charset="0"/>
              </a:rPr>
              <a:t>val_loader</a:t>
            </a:r>
            <a:r>
              <a:rPr lang="es-CO" sz="1600" b="0" dirty="0">
                <a:latin typeface="Arial" charset="0"/>
                <a:cs typeface="Arial" charset="0"/>
              </a:rPr>
              <a:t>, </a:t>
            </a:r>
            <a:r>
              <a:rPr lang="es-CO" sz="1600" b="0" dirty="0" err="1">
                <a:latin typeface="Arial" charset="0"/>
                <a:cs typeface="Arial" charset="0"/>
              </a:rPr>
              <a:t>config</a:t>
            </a:r>
            <a:r>
              <a:rPr lang="es-CO" sz="1600" b="0" dirty="0">
                <a:latin typeface="Arial" charset="0"/>
                <a:cs typeface="Arial" charset="0"/>
              </a:rPr>
              <a:t>) ® </a:t>
            </a:r>
            <a:r>
              <a:rPr lang="es-CO" sz="1600" b="0" dirty="0" err="1">
                <a:latin typeface="Arial" charset="0"/>
                <a:cs typeface="Arial" charset="0"/>
              </a:rPr>
              <a:t>metrics_dict</a:t>
            </a:r>
            <a:endParaRPr lang="es-CO" sz="1600" b="0" dirty="0">
              <a:latin typeface="Arial" charset="0"/>
              <a:cs typeface="Arial" charset="0"/>
            </a:endParaRPr>
          </a:p>
          <a:p>
            <a:r>
              <a:rPr lang="es-CO" sz="1600" b="0" dirty="0">
                <a:latin typeface="Arial" charset="0"/>
                <a:cs typeface="Arial" charset="0"/>
              </a:rPr>
              <a:t>• </a:t>
            </a:r>
            <a:r>
              <a:rPr lang="es-CO" sz="1600" b="0" dirty="0" err="1">
                <a:latin typeface="Arial" charset="0"/>
                <a:cs typeface="Arial" charset="0"/>
              </a:rPr>
              <a:t>EarlyStopping</a:t>
            </a:r>
            <a:r>
              <a:rPr lang="es-CO" sz="1600" b="0" dirty="0">
                <a:latin typeface="Arial" charset="0"/>
                <a:cs typeface="Arial" charset="0"/>
              </a:rPr>
              <a:t>: monitorea </a:t>
            </a:r>
            <a:r>
              <a:rPr lang="es-CO" sz="1600" b="0" dirty="0" err="1">
                <a:latin typeface="Arial" charset="0"/>
                <a:cs typeface="Arial" charset="0"/>
              </a:rPr>
              <a:t>val_loss</a:t>
            </a:r>
            <a:r>
              <a:rPr lang="es-CO" sz="1600" b="0" dirty="0">
                <a:latin typeface="Arial" charset="0"/>
                <a:cs typeface="Arial" charset="0"/>
              </a:rPr>
              <a:t>, paciencia configurable (5 épocas por defecto)</a:t>
            </a:r>
          </a:p>
          <a:p>
            <a:r>
              <a:rPr lang="es-MX" sz="1600" b="0" dirty="0">
                <a:latin typeface="Arial" charset="0"/>
                <a:cs typeface="Arial" charset="0"/>
              </a:rPr>
              <a:t>• </a:t>
            </a:r>
            <a:r>
              <a:rPr lang="es-MX" sz="1600" b="0" dirty="0" err="1">
                <a:latin typeface="Arial" charset="0"/>
                <a:cs typeface="Arial" charset="0"/>
              </a:rPr>
              <a:t>ReduceLROnPlateau</a:t>
            </a:r>
            <a:r>
              <a:rPr lang="es-MX" sz="1600" b="0" dirty="0">
                <a:latin typeface="Arial" charset="0"/>
                <a:cs typeface="Arial" charset="0"/>
              </a:rPr>
              <a:t>: reduce lr×0.5 si </a:t>
            </a:r>
            <a:r>
              <a:rPr lang="es-MX" sz="1600" b="0" dirty="0" err="1">
                <a:latin typeface="Arial" charset="0"/>
                <a:cs typeface="Arial" charset="0"/>
              </a:rPr>
              <a:t>val_loss</a:t>
            </a:r>
            <a:r>
              <a:rPr lang="es-MX" sz="1600" b="0" dirty="0">
                <a:latin typeface="Arial" charset="0"/>
                <a:cs typeface="Arial" charset="0"/>
              </a:rPr>
              <a:t> no mejora en 2 épocas</a:t>
            </a:r>
          </a:p>
          <a:p>
            <a:r>
              <a:rPr lang="es-CO" sz="1600" b="0" dirty="0">
                <a:latin typeface="Arial" charset="0"/>
                <a:cs typeface="Arial" charset="0"/>
              </a:rPr>
              <a:t>• </a:t>
            </a:r>
            <a:r>
              <a:rPr lang="es-CO" sz="1600" b="0" dirty="0" err="1">
                <a:latin typeface="Arial" charset="0"/>
                <a:cs typeface="Arial" charset="0"/>
              </a:rPr>
              <a:t>Gradient</a:t>
            </a:r>
            <a:r>
              <a:rPr lang="es-CO" sz="1600" b="0" dirty="0">
                <a:latin typeface="Arial" charset="0"/>
                <a:cs typeface="Arial" charset="0"/>
              </a:rPr>
              <a:t> </a:t>
            </a:r>
            <a:r>
              <a:rPr lang="es-CO" sz="1600" b="0" dirty="0" err="1">
                <a:latin typeface="Arial" charset="0"/>
                <a:cs typeface="Arial" charset="0"/>
              </a:rPr>
              <a:t>clipping</a:t>
            </a:r>
            <a:r>
              <a:rPr lang="es-CO" sz="1600" b="0" dirty="0">
                <a:latin typeface="Arial" charset="0"/>
                <a:cs typeface="Arial" charset="0"/>
              </a:rPr>
              <a:t>: </a:t>
            </a:r>
            <a:r>
              <a:rPr lang="es-CO" sz="1600" b="0" dirty="0" err="1">
                <a:latin typeface="Arial" charset="0"/>
                <a:cs typeface="Arial" charset="0"/>
              </a:rPr>
              <a:t>max_norm</a:t>
            </a:r>
            <a:r>
              <a:rPr lang="es-CO" sz="1600" b="0" dirty="0">
                <a:latin typeface="Arial" charset="0"/>
                <a:cs typeface="Arial" charset="0"/>
              </a:rPr>
              <a:t>=1.0 para prevenir explosión en LSTM</a:t>
            </a:r>
          </a:p>
          <a:p>
            <a:r>
              <a:rPr lang="es-CO" sz="1600" b="0" dirty="0">
                <a:latin typeface="Arial" charset="0"/>
                <a:cs typeface="Arial" charset="0"/>
              </a:rPr>
              <a:t>• </a:t>
            </a:r>
            <a:r>
              <a:rPr lang="es-CO" sz="1600" b="0" dirty="0" err="1">
                <a:latin typeface="Arial" charset="0"/>
                <a:cs typeface="Arial" charset="0"/>
              </a:rPr>
              <a:t>Checkpoint</a:t>
            </a:r>
            <a:r>
              <a:rPr lang="es-CO" sz="1600" b="0" dirty="0">
                <a:latin typeface="Arial" charset="0"/>
                <a:cs typeface="Arial" charset="0"/>
              </a:rPr>
              <a:t> automático: </a:t>
            </a:r>
            <a:r>
              <a:rPr lang="es-CO" sz="1600" b="0" dirty="0" err="1">
                <a:latin typeface="Arial" charset="0"/>
                <a:cs typeface="Arial" charset="0"/>
              </a:rPr>
              <a:t>torch.save</a:t>
            </a:r>
            <a:r>
              <a:rPr lang="es-CO" sz="1600" b="0" dirty="0">
                <a:latin typeface="Arial" charset="0"/>
                <a:cs typeface="Arial" charset="0"/>
              </a:rPr>
              <a:t>(</a:t>
            </a:r>
            <a:r>
              <a:rPr lang="es-CO" sz="1600" b="0" dirty="0" err="1">
                <a:latin typeface="Arial" charset="0"/>
                <a:cs typeface="Arial" charset="0"/>
              </a:rPr>
              <a:t>model.state_dict</a:t>
            </a:r>
            <a:r>
              <a:rPr lang="es-CO" sz="1600" b="0" dirty="0">
                <a:latin typeface="Arial" charset="0"/>
                <a:cs typeface="Arial" charset="0"/>
              </a:rPr>
              <a:t>()) al mejor </a:t>
            </a:r>
            <a:r>
              <a:rPr lang="es-CO" sz="1600" b="0" dirty="0" err="1">
                <a:latin typeface="Arial" charset="0"/>
                <a:cs typeface="Arial" charset="0"/>
              </a:rPr>
              <a:t>val_loss</a:t>
            </a:r>
            <a:endParaRPr lang="es-CO" sz="1600" b="0" dirty="0">
              <a:latin typeface="Arial" charset="0"/>
              <a:cs typeface="Arial" charset="0"/>
            </a:endParaRPr>
          </a:p>
          <a:p>
            <a:r>
              <a:rPr lang="es-MX" sz="1600" b="0" dirty="0">
                <a:latin typeface="Arial" charset="0"/>
                <a:cs typeface="Arial" charset="0"/>
              </a:rPr>
              <a:t>• </a:t>
            </a:r>
            <a:r>
              <a:rPr lang="es-MX" sz="1600" b="0" dirty="0" err="1">
                <a:latin typeface="Arial" charset="0"/>
                <a:cs typeface="Arial" charset="0"/>
              </a:rPr>
              <a:t>evaluate</a:t>
            </a:r>
            <a:r>
              <a:rPr lang="es-MX" sz="1600" b="0" dirty="0">
                <a:latin typeface="Arial" charset="0"/>
                <a:cs typeface="Arial" charset="0"/>
              </a:rPr>
              <a:t>(): carga el mejor </a:t>
            </a:r>
            <a:r>
              <a:rPr lang="es-MX" sz="1600" b="0" dirty="0" err="1">
                <a:latin typeface="Arial" charset="0"/>
                <a:cs typeface="Arial" charset="0"/>
              </a:rPr>
              <a:t>checkpoint</a:t>
            </a:r>
            <a:r>
              <a:rPr lang="es-MX" sz="1600" b="0" dirty="0">
                <a:latin typeface="Arial" charset="0"/>
                <a:cs typeface="Arial" charset="0"/>
              </a:rPr>
              <a:t> y evalúa en test UNA sola vez</a:t>
            </a:r>
          </a:p>
          <a:p>
            <a:r>
              <a:rPr lang="es-CO" sz="1600" dirty="0">
                <a:solidFill>
                  <a:srgbClr val="FFC000"/>
                </a:solidFill>
                <a:latin typeface="Arial" charset="0"/>
                <a:cs typeface="Arial" charset="0"/>
              </a:rPr>
              <a:t>src/metrics.py</a:t>
            </a:r>
          </a:p>
          <a:p>
            <a:r>
              <a:rPr lang="es-MX" sz="1600" b="0" dirty="0">
                <a:latin typeface="Arial" charset="0"/>
                <a:cs typeface="Arial" charset="0"/>
              </a:rPr>
              <a:t>• </a:t>
            </a:r>
            <a:r>
              <a:rPr lang="es-MX" sz="1600" b="0" dirty="0" err="1">
                <a:latin typeface="Arial" charset="0"/>
                <a:cs typeface="Arial" charset="0"/>
              </a:rPr>
              <a:t>compute_metrics</a:t>
            </a:r>
            <a:r>
              <a:rPr lang="es-MX" sz="1600" b="0" dirty="0">
                <a:latin typeface="Arial" charset="0"/>
                <a:cs typeface="Arial" charset="0"/>
              </a:rPr>
              <a:t>(): </a:t>
            </a:r>
            <a:r>
              <a:rPr lang="es-MX" sz="1600" b="0" dirty="0" err="1">
                <a:latin typeface="Arial" charset="0"/>
                <a:cs typeface="Arial" charset="0"/>
              </a:rPr>
              <a:t>accuracy</a:t>
            </a:r>
            <a:r>
              <a:rPr lang="es-MX" sz="1600" b="0" dirty="0">
                <a:latin typeface="Arial" charset="0"/>
                <a:cs typeface="Arial" charset="0"/>
              </a:rPr>
              <a:t>, F1 macro y por clase, matriz de confusión</a:t>
            </a:r>
          </a:p>
          <a:p>
            <a:r>
              <a:rPr lang="es-CO" sz="1600" b="0" dirty="0">
                <a:latin typeface="Arial" charset="0"/>
                <a:cs typeface="Arial" charset="0"/>
              </a:rPr>
              <a:t>• </a:t>
            </a:r>
            <a:r>
              <a:rPr lang="es-CO" sz="1600" b="0" dirty="0" err="1">
                <a:latin typeface="Arial" charset="0"/>
                <a:cs typeface="Arial" charset="0"/>
              </a:rPr>
              <a:t>plot_training_curves</a:t>
            </a:r>
            <a:r>
              <a:rPr lang="es-CO" sz="1600" b="0" dirty="0">
                <a:latin typeface="Arial" charset="0"/>
                <a:cs typeface="Arial" charset="0"/>
              </a:rPr>
              <a:t>(): PNG de curvas </a:t>
            </a:r>
            <a:r>
              <a:rPr lang="es-CO" sz="1600" b="0" dirty="0" err="1">
                <a:latin typeface="Arial" charset="0"/>
                <a:cs typeface="Arial" charset="0"/>
              </a:rPr>
              <a:t>loss</a:t>
            </a:r>
            <a:r>
              <a:rPr lang="es-CO" sz="1600" b="0" dirty="0">
                <a:latin typeface="Arial" charset="0"/>
                <a:cs typeface="Arial" charset="0"/>
              </a:rPr>
              <a:t>/</a:t>
            </a:r>
            <a:r>
              <a:rPr lang="es-CO" sz="1600" b="0" dirty="0" err="1">
                <a:latin typeface="Arial" charset="0"/>
                <a:cs typeface="Arial" charset="0"/>
              </a:rPr>
              <a:t>accuracy</a:t>
            </a:r>
            <a:r>
              <a:rPr lang="es-CO" sz="1600" b="0" dirty="0">
                <a:latin typeface="Arial" charset="0"/>
                <a:cs typeface="Arial" charset="0"/>
              </a:rPr>
              <a:t> (</a:t>
            </a:r>
            <a:r>
              <a:rPr lang="es-CO" sz="1600" b="0" dirty="0" err="1">
                <a:latin typeface="Arial" charset="0"/>
                <a:cs typeface="Arial" charset="0"/>
              </a:rPr>
              <a:t>train</a:t>
            </a:r>
            <a:r>
              <a:rPr lang="es-CO" sz="1600" b="0" dirty="0">
                <a:latin typeface="Arial" charset="0"/>
                <a:cs typeface="Arial" charset="0"/>
              </a:rPr>
              <a:t> vs val)</a:t>
            </a:r>
          </a:p>
          <a:p>
            <a:r>
              <a:rPr lang="es-CO" sz="1600" b="0" dirty="0">
                <a:latin typeface="Arial" charset="0"/>
                <a:cs typeface="Arial" charset="0"/>
              </a:rPr>
              <a:t>• </a:t>
            </a:r>
            <a:r>
              <a:rPr lang="es-CO" sz="1600" b="0" dirty="0" err="1">
                <a:latin typeface="Arial" charset="0"/>
                <a:cs typeface="Arial" charset="0"/>
              </a:rPr>
              <a:t>plot_confusion_matrix</a:t>
            </a:r>
            <a:r>
              <a:rPr lang="es-CO" sz="1600" b="0" dirty="0">
                <a:latin typeface="Arial" charset="0"/>
                <a:cs typeface="Arial" charset="0"/>
              </a:rPr>
              <a:t>(): </a:t>
            </a:r>
            <a:r>
              <a:rPr lang="es-CO" sz="1600" b="0" dirty="0" err="1">
                <a:latin typeface="Arial" charset="0"/>
                <a:cs typeface="Arial" charset="0"/>
              </a:rPr>
              <a:t>heatmap</a:t>
            </a:r>
            <a:r>
              <a:rPr lang="es-CO" sz="1600" b="0" dirty="0">
                <a:latin typeface="Arial" charset="0"/>
                <a:cs typeface="Arial" charset="0"/>
              </a:rPr>
              <a:t> normalizado por fila</a:t>
            </a:r>
          </a:p>
          <a:p>
            <a:r>
              <a:rPr lang="es-MX" sz="1600" b="0" dirty="0">
                <a:latin typeface="Arial" charset="0"/>
                <a:cs typeface="Arial" charset="0"/>
              </a:rPr>
              <a:t>• </a:t>
            </a:r>
            <a:r>
              <a:rPr lang="es-MX" sz="1600" b="0" dirty="0" err="1">
                <a:latin typeface="Arial" charset="0"/>
                <a:cs typeface="Arial" charset="0"/>
              </a:rPr>
              <a:t>finalize_and_save</a:t>
            </a:r>
            <a:r>
              <a:rPr lang="es-MX" sz="1600" b="0" dirty="0">
                <a:latin typeface="Arial" charset="0"/>
                <a:cs typeface="Arial" charset="0"/>
              </a:rPr>
              <a:t>(): genera JSON estandarizado del equipo + todos los PNG</a:t>
            </a:r>
          </a:p>
          <a:p>
            <a:r>
              <a:rPr lang="es-CO" sz="1600" dirty="0">
                <a:solidFill>
                  <a:srgbClr val="FFC000"/>
                </a:solidFill>
                <a:latin typeface="Arial" charset="0"/>
                <a:cs typeface="Arial" charset="0"/>
              </a:rPr>
              <a:t>Formato JSON estandarizado</a:t>
            </a:r>
          </a:p>
          <a:p>
            <a:r>
              <a:rPr lang="es-MX" sz="1600" b="0" dirty="0">
                <a:latin typeface="Arial" charset="0"/>
                <a:cs typeface="Arial" charset="0"/>
              </a:rPr>
              <a:t>Todos los modelos guardan sus resultados en el mismo formato para que la tabla comparativa final sea</a:t>
            </a:r>
          </a:p>
          <a:p>
            <a:r>
              <a:rPr lang="es-CO" sz="1600" b="0" dirty="0">
                <a:latin typeface="Arial" charset="0"/>
                <a:cs typeface="Arial" charset="0"/>
              </a:rPr>
              <a:t>automática:</a:t>
            </a:r>
          </a:p>
          <a:p>
            <a:r>
              <a:rPr lang="en-US" sz="1600" b="0" dirty="0" err="1">
                <a:latin typeface="Arial" charset="0"/>
                <a:cs typeface="Arial" charset="0"/>
              </a:rPr>
              <a:t>model_name</a:t>
            </a:r>
            <a:r>
              <a:rPr lang="en-US" sz="1600" b="0" dirty="0">
                <a:latin typeface="Arial" charset="0"/>
                <a:cs typeface="Arial" charset="0"/>
              </a:rPr>
              <a:t> · owner · track · config (</a:t>
            </a:r>
            <a:r>
              <a:rPr lang="en-US" sz="1600" b="0" dirty="0" err="1">
                <a:latin typeface="Arial" charset="0"/>
                <a:cs typeface="Arial" charset="0"/>
              </a:rPr>
              <a:t>embedding_dim</a:t>
            </a:r>
            <a:r>
              <a:rPr lang="en-US" sz="1600" b="0" dirty="0">
                <a:latin typeface="Arial" charset="0"/>
                <a:cs typeface="Arial" charset="0"/>
              </a:rPr>
              <a:t>, </a:t>
            </a:r>
            <a:r>
              <a:rPr lang="en-US" sz="1600" b="0" dirty="0" err="1">
                <a:latin typeface="Arial" charset="0"/>
                <a:cs typeface="Arial" charset="0"/>
              </a:rPr>
              <a:t>hidden_size</a:t>
            </a:r>
            <a:r>
              <a:rPr lang="en-US" sz="1600" b="0" dirty="0">
                <a:latin typeface="Arial" charset="0"/>
                <a:cs typeface="Arial" charset="0"/>
              </a:rPr>
              <a:t>, dropout, </a:t>
            </a:r>
            <a:r>
              <a:rPr lang="en-US" sz="1600" b="0" dirty="0" err="1">
                <a:latin typeface="Arial" charset="0"/>
                <a:cs typeface="Arial" charset="0"/>
              </a:rPr>
              <a:t>n_params</a:t>
            </a:r>
            <a:r>
              <a:rPr lang="en-US" sz="1600" b="0" dirty="0">
                <a:latin typeface="Arial" charset="0"/>
                <a:cs typeface="Arial" charset="0"/>
              </a:rPr>
              <a:t>)</a:t>
            </a:r>
          </a:p>
          <a:p>
            <a:r>
              <a:rPr lang="en-US" sz="1600" b="0" dirty="0">
                <a:latin typeface="Arial" charset="0"/>
                <a:cs typeface="Arial" charset="0"/>
              </a:rPr>
              <a:t>· metrics (accuracy, f1_macro, f1_per_class, </a:t>
            </a:r>
            <a:r>
              <a:rPr lang="en-US" sz="1600" b="0" dirty="0" err="1">
                <a:latin typeface="Arial" charset="0"/>
                <a:cs typeface="Arial" charset="0"/>
              </a:rPr>
              <a:t>confusion_matrix</a:t>
            </a:r>
            <a:r>
              <a:rPr lang="en-US" sz="1600" b="0" dirty="0">
                <a:latin typeface="Arial" charset="0"/>
                <a:cs typeface="Arial" charset="0"/>
              </a:rPr>
              <a:t>) · training</a:t>
            </a:r>
          </a:p>
          <a:p>
            <a:r>
              <a:rPr lang="en-US" sz="1600" b="0" dirty="0">
                <a:latin typeface="Arial" charset="0"/>
                <a:cs typeface="Arial" charset="0"/>
              </a:rPr>
              <a:t>(</a:t>
            </a:r>
            <a:r>
              <a:rPr lang="en-US" sz="1600" b="0" dirty="0" err="1">
                <a:latin typeface="Arial" charset="0"/>
                <a:cs typeface="Arial" charset="0"/>
              </a:rPr>
              <a:t>epochs_run</a:t>
            </a:r>
            <a:r>
              <a:rPr lang="en-US" sz="1600" b="0" dirty="0">
                <a:latin typeface="Arial" charset="0"/>
                <a:cs typeface="Arial" charset="0"/>
              </a:rPr>
              <a:t>, </a:t>
            </a:r>
            <a:r>
              <a:rPr lang="en-US" sz="1600" b="0" dirty="0" err="1">
                <a:latin typeface="Arial" charset="0"/>
                <a:cs typeface="Arial" charset="0"/>
              </a:rPr>
              <a:t>best_epoch</a:t>
            </a:r>
            <a:r>
              <a:rPr lang="en-US" sz="1600" b="0" dirty="0">
                <a:latin typeface="Arial" charset="0"/>
                <a:cs typeface="Arial" charset="0"/>
              </a:rPr>
              <a:t>, </a:t>
            </a:r>
            <a:r>
              <a:rPr lang="en-US" sz="1600" b="0" dirty="0" err="1">
                <a:latin typeface="Arial" charset="0"/>
                <a:cs typeface="Arial" charset="0"/>
              </a:rPr>
              <a:t>loss_history</a:t>
            </a:r>
            <a:r>
              <a:rPr lang="en-US" sz="1600" b="0" dirty="0">
                <a:latin typeface="Arial" charset="0"/>
                <a:cs typeface="Arial" charset="0"/>
              </a:rPr>
              <a:t>, </a:t>
            </a:r>
            <a:r>
              <a:rPr lang="en-US" sz="1600" b="0" dirty="0" err="1">
                <a:latin typeface="Arial" charset="0"/>
                <a:cs typeface="Arial" charset="0"/>
              </a:rPr>
              <a:t>val_loss_history</a:t>
            </a:r>
            <a:r>
              <a:rPr lang="en-US" sz="1600" b="0" dirty="0">
                <a:latin typeface="Arial" charset="0"/>
                <a:cs typeface="Arial" charset="0"/>
              </a:rPr>
              <a:t>)</a:t>
            </a:r>
            <a:br>
              <a:rPr lang="es-CO" sz="1600" b="0" dirty="0">
                <a:latin typeface="Arial" charset="0"/>
                <a:cs typeface="Arial" charset="0"/>
              </a:rPr>
            </a:br>
            <a:endParaRPr lang="es-CO" sz="1600" b="0" dirty="0">
              <a:latin typeface="Arial" charset="0"/>
              <a:cs typeface="Arial" charset="0"/>
            </a:endParaRPr>
          </a:p>
          <a:p>
            <a:br>
              <a:rPr lang="es-CO" sz="1600" b="0" dirty="0">
                <a:latin typeface="Arial" charset="0"/>
                <a:cs typeface="Arial" charset="0"/>
              </a:rPr>
            </a:br>
            <a:endParaRPr lang="es-CO" altLang="es-CO" sz="1600" b="0" dirty="0">
              <a:latin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64846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45A64A-FE20-029D-C8B7-692D2207ED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Marcador de contenido 3">
            <a:extLst>
              <a:ext uri="{FF2B5EF4-FFF2-40B4-BE49-F238E27FC236}">
                <a16:creationId xmlns:a16="http://schemas.microsoft.com/office/drawing/2014/main" id="{E3DF2B21-DAB3-AB93-D6A6-AF79F7F3811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201128" cy="6863135"/>
          </a:xfrm>
        </p:spPr>
      </p:pic>
      <p:sp>
        <p:nvSpPr>
          <p:cNvPr id="31" name="Rectángulo 30">
            <a:extLst>
              <a:ext uri="{FF2B5EF4-FFF2-40B4-BE49-F238E27FC236}">
                <a16:creationId xmlns:a16="http://schemas.microsoft.com/office/drawing/2014/main" id="{5A14C184-FE17-4DDB-42C9-1F517F4106D8}"/>
              </a:ext>
            </a:extLst>
          </p:cNvPr>
          <p:cNvSpPr/>
          <p:nvPr/>
        </p:nvSpPr>
        <p:spPr>
          <a:xfrm>
            <a:off x="877078" y="583285"/>
            <a:ext cx="7625655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s-MX" sz="2400" b="1" dirty="0">
                <a:solidFill>
                  <a:schemeClr val="bg1"/>
                </a:solidFill>
                <a:latin typeface="Arial" charset="0"/>
                <a:cs typeface="Arial" charset="0"/>
              </a:rPr>
              <a:t>Modelo Clásico 1 — LSTM Unidireccional </a:t>
            </a:r>
            <a:endParaRPr lang="es-ES_tradnl" sz="2400" b="1" dirty="0">
              <a:solidFill>
                <a:schemeClr val="bg1"/>
              </a:solidFill>
              <a:latin typeface="Arial" charset="0"/>
              <a:cs typeface="Arial" charset="0"/>
            </a:endParaRPr>
          </a:p>
        </p:txBody>
      </p:sp>
      <p:graphicFrame>
        <p:nvGraphicFramePr>
          <p:cNvPr id="3" name="Tabla 2">
            <a:extLst>
              <a:ext uri="{FF2B5EF4-FFF2-40B4-BE49-F238E27FC236}">
                <a16:creationId xmlns:a16="http://schemas.microsoft.com/office/drawing/2014/main" id="{3F9C8900-793E-EBD8-E4BA-5296782D8E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74582248"/>
              </p:ext>
            </p:extLst>
          </p:nvPr>
        </p:nvGraphicFramePr>
        <p:xfrm>
          <a:off x="1012682" y="2009208"/>
          <a:ext cx="9792167" cy="1524000"/>
        </p:xfrm>
        <a:graphic>
          <a:graphicData uri="http://schemas.openxmlformats.org/drawingml/2006/table">
            <a:tbl>
              <a:tblPr>
                <a:tableStyleId>{8EC20E35-A176-4012-BC5E-935CFFF8708E}</a:tableStyleId>
              </a:tblPr>
              <a:tblGrid>
                <a:gridCol w="763705">
                  <a:extLst>
                    <a:ext uri="{9D8B030D-6E8A-4147-A177-3AD203B41FA5}">
                      <a16:colId xmlns:a16="http://schemas.microsoft.com/office/drawing/2014/main" val="4228599379"/>
                    </a:ext>
                  </a:extLst>
                </a:gridCol>
                <a:gridCol w="1663413">
                  <a:extLst>
                    <a:ext uri="{9D8B030D-6E8A-4147-A177-3AD203B41FA5}">
                      <a16:colId xmlns:a16="http://schemas.microsoft.com/office/drawing/2014/main" val="4265681645"/>
                    </a:ext>
                  </a:extLst>
                </a:gridCol>
                <a:gridCol w="2279608">
                  <a:extLst>
                    <a:ext uri="{9D8B030D-6E8A-4147-A177-3AD203B41FA5}">
                      <a16:colId xmlns:a16="http://schemas.microsoft.com/office/drawing/2014/main" val="1293582237"/>
                    </a:ext>
                  </a:extLst>
                </a:gridCol>
                <a:gridCol w="5085441">
                  <a:extLst>
                    <a:ext uri="{9D8B030D-6E8A-4147-A177-3AD203B41FA5}">
                      <a16:colId xmlns:a16="http://schemas.microsoft.com/office/drawing/2014/main" val="291519603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Capa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Tipo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Dimensiones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Descripción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extLst>
                  <a:ext uri="{0D108BD9-81ED-4DB2-BD59-A6C34878D82A}">
                    <a16:rowId xmlns:a16="http://schemas.microsoft.com/office/drawing/2014/main" val="14636782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000">
                          <a:effectLst/>
                        </a:rPr>
                        <a:t>1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Embedding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20,000 × 128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Entrenables desde cero. padding_idx=0 para ignorar tokens de relleno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20979249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000">
                          <a:effectLst/>
                        </a:rPr>
                        <a:t>2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LSTM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128 → 128 (1 capa)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Unidireccional. Se toma el hidden state del último token no-padding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21795605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000">
                          <a:effectLst/>
                        </a:rPr>
                        <a:t>3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Linear + ReLU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128 → 64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Capa de reducción con activación ReLU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979858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000">
                          <a:effectLst/>
                        </a:rPr>
                        <a:t>4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Dropout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p=0.3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Regularización para prevenir overfitting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8110606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000">
                          <a:effectLst/>
                        </a:rPr>
                        <a:t>5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Linear (logits)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64 → 5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 dirty="0">
                          <a:effectLst/>
                        </a:rPr>
                        <a:t>Capa de clasificación final</a:t>
                      </a:r>
                      <a:endParaRPr lang="es-CO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3341753289"/>
                  </a:ext>
                </a:extLst>
              </a:tr>
            </a:tbl>
          </a:graphicData>
        </a:graphic>
      </p:graphicFrame>
      <p:graphicFrame>
        <p:nvGraphicFramePr>
          <p:cNvPr id="5" name="Tabla 4">
            <a:extLst>
              <a:ext uri="{FF2B5EF4-FFF2-40B4-BE49-F238E27FC236}">
                <a16:creationId xmlns:a16="http://schemas.microsoft.com/office/drawing/2014/main" id="{9ECBF916-2564-0D3B-6E16-D2B78DE4BC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668460"/>
              </p:ext>
            </p:extLst>
          </p:nvPr>
        </p:nvGraphicFramePr>
        <p:xfrm>
          <a:off x="1012681" y="3733298"/>
          <a:ext cx="9792168" cy="2794000"/>
        </p:xfrm>
        <a:graphic>
          <a:graphicData uri="http://schemas.openxmlformats.org/drawingml/2006/table">
            <a:tbl>
              <a:tblPr>
                <a:tableStyleId>{8EC20E35-A176-4012-BC5E-935CFFF8708E}</a:tableStyleId>
              </a:tblPr>
              <a:tblGrid>
                <a:gridCol w="4896084">
                  <a:extLst>
                    <a:ext uri="{9D8B030D-6E8A-4147-A177-3AD203B41FA5}">
                      <a16:colId xmlns:a16="http://schemas.microsoft.com/office/drawing/2014/main" val="3188416917"/>
                    </a:ext>
                  </a:extLst>
                </a:gridCol>
                <a:gridCol w="4896084">
                  <a:extLst>
                    <a:ext uri="{9D8B030D-6E8A-4147-A177-3AD203B41FA5}">
                      <a16:colId xmlns:a16="http://schemas.microsoft.com/office/drawing/2014/main" val="215538025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Hiperparámetro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Valor (versión definitiva)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extLst>
                  <a:ext uri="{0D108BD9-81ED-4DB2-BD59-A6C34878D82A}">
                    <a16:rowId xmlns:a16="http://schemas.microsoft.com/office/drawing/2014/main" val="26843614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000">
                          <a:effectLst/>
                        </a:rPr>
                        <a:t>Embedding dim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128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1406337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000" dirty="0">
                          <a:effectLst/>
                        </a:rPr>
                        <a:t>Hidden </a:t>
                      </a:r>
                      <a:r>
                        <a:rPr lang="es-CO" sz="1000" dirty="0" err="1">
                          <a:effectLst/>
                        </a:rPr>
                        <a:t>size</a:t>
                      </a:r>
                      <a:endParaRPr lang="es-CO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128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22652691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000">
                          <a:effectLst/>
                        </a:rPr>
                        <a:t>Dropout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0.3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34223286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000">
                          <a:effectLst/>
                        </a:rPr>
                        <a:t>Learning rate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3e-4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2891886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000">
                          <a:effectLst/>
                        </a:rPr>
                        <a:t>MAX_LEN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150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32876369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000">
                          <a:effectLst/>
                        </a:rPr>
                        <a:t>Class weights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No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16131631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000">
                          <a:effectLst/>
                        </a:rPr>
                        <a:t>Épocas ejecutadas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24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9777247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000">
                          <a:effectLst/>
                        </a:rPr>
                        <a:t>Mejor época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19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15186330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000">
                          <a:effectLst/>
                        </a:rPr>
                        <a:t>Tiempo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321.2 s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11777698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000">
                          <a:effectLst/>
                        </a:rPr>
                        <a:t>Parámetros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 dirty="0">
                          <a:effectLst/>
                        </a:rPr>
                        <a:t>2,700,933</a:t>
                      </a:r>
                      <a:endParaRPr lang="es-CO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28682928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41294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853475-B41F-601F-C8AF-5A2C9C6E39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Marcador de contenido 3">
            <a:extLst>
              <a:ext uri="{FF2B5EF4-FFF2-40B4-BE49-F238E27FC236}">
                <a16:creationId xmlns:a16="http://schemas.microsoft.com/office/drawing/2014/main" id="{5F6E331B-5413-9C62-55A7-01243B9A6EA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201128" cy="6863135"/>
          </a:xfrm>
        </p:spPr>
      </p:pic>
      <p:sp>
        <p:nvSpPr>
          <p:cNvPr id="31" name="Rectángulo 30">
            <a:extLst>
              <a:ext uri="{FF2B5EF4-FFF2-40B4-BE49-F238E27FC236}">
                <a16:creationId xmlns:a16="http://schemas.microsoft.com/office/drawing/2014/main" id="{FC2E64D1-AA65-F47B-C67A-6F1E1558775A}"/>
              </a:ext>
            </a:extLst>
          </p:cNvPr>
          <p:cNvSpPr/>
          <p:nvPr/>
        </p:nvSpPr>
        <p:spPr>
          <a:xfrm>
            <a:off x="877078" y="583285"/>
            <a:ext cx="7625655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s-MX" sz="2400" b="1" dirty="0">
                <a:solidFill>
                  <a:schemeClr val="bg1"/>
                </a:solidFill>
                <a:latin typeface="Arial" charset="0"/>
                <a:cs typeface="Arial" charset="0"/>
              </a:rPr>
              <a:t>Modelo Clásico 1 — LSTM Unidireccional </a:t>
            </a:r>
            <a:endParaRPr lang="es-ES_tradnl" sz="2400" b="1" dirty="0">
              <a:solidFill>
                <a:schemeClr val="bg1"/>
              </a:solidFill>
              <a:latin typeface="Arial" charset="0"/>
              <a:cs typeface="Arial" charset="0"/>
            </a:endParaRPr>
          </a:p>
        </p:txBody>
      </p:sp>
      <p:pic>
        <p:nvPicPr>
          <p:cNvPr id="2" name="image4.png" descr="Figura 10. Curvas de entrenamiento LSTM v3 (versión definitiva, lr=3e-4, MAX_LEN=150). El val_loss se estabiliza alrededor de la época 19.">
            <a:extLst>
              <a:ext uri="{FF2B5EF4-FFF2-40B4-BE49-F238E27FC236}">
                <a16:creationId xmlns:a16="http://schemas.microsoft.com/office/drawing/2014/main" id="{FF025C04-5BCD-C681-30AD-F08218011797}"/>
              </a:ext>
            </a:extLst>
          </p:cNvPr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578303" y="2398011"/>
            <a:ext cx="6407409" cy="2332750"/>
          </a:xfrm>
          <a:prstGeom prst="rect">
            <a:avLst/>
          </a:prstGeom>
          <a:ln/>
        </p:spPr>
      </p:pic>
      <p:pic>
        <p:nvPicPr>
          <p:cNvPr id="6" name="image10.png" descr="Figura 11. Matriz de confusión LSTM v3. El modelo clasifica bien 1★ y 5★ pero presenta F1≈0 en clase 4★ (casi todo predito como 5★).">
            <a:extLst>
              <a:ext uri="{FF2B5EF4-FFF2-40B4-BE49-F238E27FC236}">
                <a16:creationId xmlns:a16="http://schemas.microsoft.com/office/drawing/2014/main" id="{69B637E7-7EFC-5CAB-220B-BE4DA491F332}"/>
              </a:ext>
            </a:extLst>
          </p:cNvPr>
          <p:cNvPicPr/>
          <p:nvPr/>
        </p:nvPicPr>
        <p:blipFill>
          <a:blip r:embed="rId4"/>
          <a:srcRect/>
          <a:stretch>
            <a:fillRect/>
          </a:stretch>
        </p:blipFill>
        <p:spPr>
          <a:xfrm>
            <a:off x="8129536" y="1992630"/>
            <a:ext cx="3192145" cy="2872740"/>
          </a:xfrm>
          <a:prstGeom prst="rect">
            <a:avLst/>
          </a:prstGeom>
          <a:ln/>
        </p:spPr>
      </p:pic>
    </p:spTree>
    <p:extLst>
      <p:ext uri="{BB962C8B-B14F-4D97-AF65-F5344CB8AC3E}">
        <p14:creationId xmlns:p14="http://schemas.microsoft.com/office/powerpoint/2010/main" val="8057628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13DEF-100D-7D7C-A3D9-5384CCBBBE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Marcador de contenido 3">
            <a:extLst>
              <a:ext uri="{FF2B5EF4-FFF2-40B4-BE49-F238E27FC236}">
                <a16:creationId xmlns:a16="http://schemas.microsoft.com/office/drawing/2014/main" id="{AE9CAA78-5BE0-0C13-2E5F-981D55D202C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201128" cy="6863135"/>
          </a:xfrm>
        </p:spPr>
      </p:pic>
      <p:sp>
        <p:nvSpPr>
          <p:cNvPr id="31" name="Rectángulo 30">
            <a:extLst>
              <a:ext uri="{FF2B5EF4-FFF2-40B4-BE49-F238E27FC236}">
                <a16:creationId xmlns:a16="http://schemas.microsoft.com/office/drawing/2014/main" id="{F8CA2345-4A9A-D28D-5A8A-CC8B53B0AD7B}"/>
              </a:ext>
            </a:extLst>
          </p:cNvPr>
          <p:cNvSpPr/>
          <p:nvPr/>
        </p:nvSpPr>
        <p:spPr>
          <a:xfrm>
            <a:off x="1341913" y="583285"/>
            <a:ext cx="716082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s-CO" sz="2400" b="1" dirty="0">
                <a:solidFill>
                  <a:schemeClr val="bg1"/>
                </a:solidFill>
                <a:latin typeface="Arial" charset="0"/>
                <a:cs typeface="Arial" charset="0"/>
              </a:rPr>
              <a:t>Modelo Clásico 2 — </a:t>
            </a:r>
            <a:r>
              <a:rPr lang="es-CO" sz="2400" b="1" dirty="0" err="1">
                <a:solidFill>
                  <a:schemeClr val="bg1"/>
                </a:solidFill>
                <a:latin typeface="Arial" charset="0"/>
                <a:cs typeface="Arial" charset="0"/>
              </a:rPr>
              <a:t>BiLSTM</a:t>
            </a:r>
            <a:r>
              <a:rPr lang="es-CO" sz="2400" b="1" dirty="0">
                <a:solidFill>
                  <a:schemeClr val="bg1"/>
                </a:solidFill>
                <a:latin typeface="Arial" charset="0"/>
                <a:cs typeface="Arial" charset="0"/>
              </a:rPr>
              <a:t> Bidireccional</a:t>
            </a:r>
          </a:p>
          <a:p>
            <a:pPr algn="ctr"/>
            <a:endParaRPr lang="es-ES_tradnl" sz="3000" b="1" dirty="0">
              <a:solidFill>
                <a:schemeClr val="bg1"/>
              </a:solidFill>
              <a:latin typeface="Arial" charset="0"/>
              <a:cs typeface="Arial" charset="0"/>
            </a:endParaRPr>
          </a:p>
        </p:txBody>
      </p:sp>
      <p:graphicFrame>
        <p:nvGraphicFramePr>
          <p:cNvPr id="3" name="Tabla 2">
            <a:extLst>
              <a:ext uri="{FF2B5EF4-FFF2-40B4-BE49-F238E27FC236}">
                <a16:creationId xmlns:a16="http://schemas.microsoft.com/office/drawing/2014/main" id="{363B53EF-2FDA-C96A-18DE-59192D0A4C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0290957"/>
              </p:ext>
            </p:extLst>
          </p:nvPr>
        </p:nvGraphicFramePr>
        <p:xfrm>
          <a:off x="928706" y="1517517"/>
          <a:ext cx="10585270" cy="1524000"/>
        </p:xfrm>
        <a:graphic>
          <a:graphicData uri="http://schemas.openxmlformats.org/drawingml/2006/table">
            <a:tbl>
              <a:tblPr>
                <a:tableStyleId>{8EC20E35-A176-4012-BC5E-935CFFF8708E}</a:tableStyleId>
              </a:tblPr>
              <a:tblGrid>
                <a:gridCol w="825561">
                  <a:extLst>
                    <a:ext uri="{9D8B030D-6E8A-4147-A177-3AD203B41FA5}">
                      <a16:colId xmlns:a16="http://schemas.microsoft.com/office/drawing/2014/main" val="3087853795"/>
                    </a:ext>
                  </a:extLst>
                </a:gridCol>
                <a:gridCol w="1798139">
                  <a:extLst>
                    <a:ext uri="{9D8B030D-6E8A-4147-A177-3AD203B41FA5}">
                      <a16:colId xmlns:a16="http://schemas.microsoft.com/office/drawing/2014/main" val="104889297"/>
                    </a:ext>
                  </a:extLst>
                </a:gridCol>
                <a:gridCol w="2464242">
                  <a:extLst>
                    <a:ext uri="{9D8B030D-6E8A-4147-A177-3AD203B41FA5}">
                      <a16:colId xmlns:a16="http://schemas.microsoft.com/office/drawing/2014/main" val="2686874604"/>
                    </a:ext>
                  </a:extLst>
                </a:gridCol>
                <a:gridCol w="5497328">
                  <a:extLst>
                    <a:ext uri="{9D8B030D-6E8A-4147-A177-3AD203B41FA5}">
                      <a16:colId xmlns:a16="http://schemas.microsoft.com/office/drawing/2014/main" val="145158511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Capa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Tipo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 dirty="0">
                          <a:effectLst/>
                        </a:rPr>
                        <a:t>Dimensiones</a:t>
                      </a:r>
                      <a:endParaRPr lang="es-CO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Descripción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extLst>
                  <a:ext uri="{0D108BD9-81ED-4DB2-BD59-A6C34878D82A}">
                    <a16:rowId xmlns:a16="http://schemas.microsoft.com/office/drawing/2014/main" val="33078335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000">
                          <a:effectLst/>
                        </a:rPr>
                        <a:t>1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Embedding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20,002 × 128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Entrenables. padding_idx=0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42430113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000">
                          <a:effectLst/>
                        </a:rPr>
                        <a:t>2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BiLSTM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128 → 256 (128×2, 2 capas)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Bidireccional. dropout=0.4 entre capas LSTM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41654108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000">
                          <a:effectLst/>
                        </a:rPr>
                        <a:t>3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Global Max Pooling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256 → 256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Máximo en dimensión temporal. Captura rasgos activados en cualquier posición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23924000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000">
                          <a:effectLst/>
                        </a:rPr>
                        <a:t>4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Dropout + Linear + ReLU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256 → 128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Reducción con regularización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7208958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000">
                          <a:effectLst/>
                        </a:rPr>
                        <a:t>5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Linear (logits)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128 → 5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 dirty="0">
                          <a:effectLst/>
                        </a:rPr>
                        <a:t>Clasificación final</a:t>
                      </a:r>
                      <a:endParaRPr lang="es-CO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624697887"/>
                  </a:ext>
                </a:extLst>
              </a:tr>
            </a:tbl>
          </a:graphicData>
        </a:graphic>
      </p:graphicFrame>
      <p:graphicFrame>
        <p:nvGraphicFramePr>
          <p:cNvPr id="5" name="Tabla 4">
            <a:extLst>
              <a:ext uri="{FF2B5EF4-FFF2-40B4-BE49-F238E27FC236}">
                <a16:creationId xmlns:a16="http://schemas.microsoft.com/office/drawing/2014/main" id="{89C95455-F1DB-43C0-A6C5-D5B59731E2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3182683"/>
              </p:ext>
            </p:extLst>
          </p:nvPr>
        </p:nvGraphicFramePr>
        <p:xfrm>
          <a:off x="928706" y="3198656"/>
          <a:ext cx="10585270" cy="3556000"/>
        </p:xfrm>
        <a:graphic>
          <a:graphicData uri="http://schemas.openxmlformats.org/drawingml/2006/table">
            <a:tbl>
              <a:tblPr>
                <a:tableStyleId>{8EC20E35-A176-4012-BC5E-935CFFF8708E}</a:tableStyleId>
              </a:tblPr>
              <a:tblGrid>
                <a:gridCol w="5292635">
                  <a:extLst>
                    <a:ext uri="{9D8B030D-6E8A-4147-A177-3AD203B41FA5}">
                      <a16:colId xmlns:a16="http://schemas.microsoft.com/office/drawing/2014/main" val="3031796629"/>
                    </a:ext>
                  </a:extLst>
                </a:gridCol>
                <a:gridCol w="5292635">
                  <a:extLst>
                    <a:ext uri="{9D8B030D-6E8A-4147-A177-3AD203B41FA5}">
                      <a16:colId xmlns:a16="http://schemas.microsoft.com/office/drawing/2014/main" val="1179631950"/>
                    </a:ext>
                  </a:extLst>
                </a:gridCol>
              </a:tblGrid>
              <a:tr h="22721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Hiperparámetro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Valor (versión definitiva)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extLst>
                  <a:ext uri="{0D108BD9-81ED-4DB2-BD59-A6C34878D82A}">
                    <a16:rowId xmlns:a16="http://schemas.microsoft.com/office/drawing/2014/main" val="1241710372"/>
                  </a:ext>
                </a:extLst>
              </a:tr>
              <a:tr h="2272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000">
                          <a:effectLst/>
                        </a:rPr>
                        <a:t>Embedding dim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128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1032359686"/>
                  </a:ext>
                </a:extLst>
              </a:tr>
              <a:tr h="2272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000" dirty="0">
                          <a:effectLst/>
                        </a:rPr>
                        <a:t>Hidden </a:t>
                      </a:r>
                      <a:r>
                        <a:rPr lang="es-CO" sz="1000" dirty="0" err="1">
                          <a:effectLst/>
                        </a:rPr>
                        <a:t>size</a:t>
                      </a:r>
                      <a:r>
                        <a:rPr lang="es-CO" sz="1000" dirty="0">
                          <a:effectLst/>
                        </a:rPr>
                        <a:t> por dirección</a:t>
                      </a:r>
                      <a:endParaRPr lang="es-CO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128 (256 total)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1527750825"/>
                  </a:ext>
                </a:extLst>
              </a:tr>
              <a:tr h="2272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000">
                          <a:effectLst/>
                        </a:rPr>
                        <a:t>N° capas BiLSTM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2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606418176"/>
                  </a:ext>
                </a:extLst>
              </a:tr>
              <a:tr h="2272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000">
                          <a:effectLst/>
                        </a:rPr>
                        <a:t>Dropout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0.4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964082445"/>
                  </a:ext>
                </a:extLst>
              </a:tr>
              <a:tr h="2272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000">
                          <a:effectLst/>
                        </a:rPr>
                        <a:t>Learning rate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1e-3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3929148723"/>
                  </a:ext>
                </a:extLst>
              </a:tr>
              <a:tr h="2272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000">
                          <a:effectLst/>
                        </a:rPr>
                        <a:t>Weight decay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1e-5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2707208783"/>
                  </a:ext>
                </a:extLst>
              </a:tr>
              <a:tr h="2272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000">
                          <a:effectLst/>
                        </a:rPr>
                        <a:t>LR Scheduler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ReduceLROnPlateau (factor=0.5, patience=2)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982960617"/>
                  </a:ext>
                </a:extLst>
              </a:tr>
              <a:tr h="2272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000">
                          <a:effectLst/>
                        </a:rPr>
                        <a:t>Class weights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Sí: [2.167, 3.655, 1.598, 0.861, 0.404]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1267839578"/>
                  </a:ext>
                </a:extLst>
              </a:tr>
              <a:tr h="2272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000">
                          <a:effectLst/>
                        </a:rPr>
                        <a:t>MAX_LEN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200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882092263"/>
                  </a:ext>
                </a:extLst>
              </a:tr>
              <a:tr h="2272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000">
                          <a:effectLst/>
                        </a:rPr>
                        <a:t>Épocas ejecutadas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9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1713364766"/>
                  </a:ext>
                </a:extLst>
              </a:tr>
              <a:tr h="2272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000">
                          <a:effectLst/>
                        </a:rPr>
                        <a:t>Mejor época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5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2779975284"/>
                  </a:ext>
                </a:extLst>
              </a:tr>
              <a:tr h="2272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000">
                          <a:effectLst/>
                        </a:rPr>
                        <a:t>Tiempo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1,792.3 s (CPU)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1609485313"/>
                  </a:ext>
                </a:extLst>
              </a:tr>
              <a:tr h="2272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000" dirty="0">
                          <a:effectLst/>
                        </a:rPr>
                        <a:t>Parámetros</a:t>
                      </a:r>
                      <a:endParaRPr lang="es-CO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 dirty="0">
                          <a:effectLst/>
                        </a:rPr>
                        <a:t>3,253,253</a:t>
                      </a:r>
                      <a:endParaRPr lang="es-CO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32232945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501460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FBC180-B4EC-F1E2-6A55-FD9B7CC6C5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Marcador de contenido 3">
            <a:extLst>
              <a:ext uri="{FF2B5EF4-FFF2-40B4-BE49-F238E27FC236}">
                <a16:creationId xmlns:a16="http://schemas.microsoft.com/office/drawing/2014/main" id="{D9BBC073-E381-919D-6907-CDFDF28A2C9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201128" cy="6863135"/>
          </a:xfrm>
        </p:spPr>
      </p:pic>
      <p:sp>
        <p:nvSpPr>
          <p:cNvPr id="31" name="Rectángulo 30">
            <a:extLst>
              <a:ext uri="{FF2B5EF4-FFF2-40B4-BE49-F238E27FC236}">
                <a16:creationId xmlns:a16="http://schemas.microsoft.com/office/drawing/2014/main" id="{2D1FD917-A91B-F9AB-031A-C0D0F184721B}"/>
              </a:ext>
            </a:extLst>
          </p:cNvPr>
          <p:cNvSpPr/>
          <p:nvPr/>
        </p:nvSpPr>
        <p:spPr>
          <a:xfrm>
            <a:off x="1341913" y="583285"/>
            <a:ext cx="716082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s-CO" sz="2400" b="1" dirty="0">
                <a:solidFill>
                  <a:schemeClr val="bg1"/>
                </a:solidFill>
                <a:latin typeface="Arial" charset="0"/>
                <a:cs typeface="Arial" charset="0"/>
              </a:rPr>
              <a:t>Modelo Clásico 2 — </a:t>
            </a:r>
            <a:r>
              <a:rPr lang="es-CO" sz="2400" b="1" dirty="0" err="1">
                <a:solidFill>
                  <a:schemeClr val="bg1"/>
                </a:solidFill>
                <a:latin typeface="Arial" charset="0"/>
                <a:cs typeface="Arial" charset="0"/>
              </a:rPr>
              <a:t>BiLSTM</a:t>
            </a:r>
            <a:r>
              <a:rPr lang="es-CO" sz="2400" b="1" dirty="0">
                <a:solidFill>
                  <a:schemeClr val="bg1"/>
                </a:solidFill>
                <a:latin typeface="Arial" charset="0"/>
                <a:cs typeface="Arial" charset="0"/>
              </a:rPr>
              <a:t> Bidireccional</a:t>
            </a:r>
          </a:p>
          <a:p>
            <a:pPr algn="ctr"/>
            <a:endParaRPr lang="es-ES_tradnl" sz="3000" b="1" dirty="0">
              <a:solidFill>
                <a:schemeClr val="bg1"/>
              </a:solidFill>
              <a:latin typeface="Arial" charset="0"/>
              <a:cs typeface="Arial" charset="0"/>
            </a:endParaRPr>
          </a:p>
        </p:txBody>
      </p:sp>
      <p:pic>
        <p:nvPicPr>
          <p:cNvPr id="2" name="image9.png" descr="Figura 16. Matriz de confusión BiLSTM v2 (con class weights). Clase 2★ mejora a 86 correctas. Trade-off: clase 5★ baja de 1,058 a 964.">
            <a:extLst>
              <a:ext uri="{FF2B5EF4-FFF2-40B4-BE49-F238E27FC236}">
                <a16:creationId xmlns:a16="http://schemas.microsoft.com/office/drawing/2014/main" id="{0BC06C7C-7B7D-EB6E-7FE6-DB07B30B131E}"/>
              </a:ext>
            </a:extLst>
          </p:cNvPr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7703678" y="2085235"/>
            <a:ext cx="4174490" cy="3757295"/>
          </a:xfrm>
          <a:prstGeom prst="rect">
            <a:avLst/>
          </a:prstGeom>
          <a:ln/>
        </p:spPr>
      </p:pic>
      <p:pic>
        <p:nvPicPr>
          <p:cNvPr id="6" name="image14.png" descr="Figura 14. Curvas BiLSTM v2 (con class weights, versión definitiva). Convergencia más lenta pero mejor F1 macro.">
            <a:extLst>
              <a:ext uri="{FF2B5EF4-FFF2-40B4-BE49-F238E27FC236}">
                <a16:creationId xmlns:a16="http://schemas.microsoft.com/office/drawing/2014/main" id="{F92D8672-D88F-11E3-7B08-E99A044C38AE}"/>
              </a:ext>
            </a:extLst>
          </p:cNvPr>
          <p:cNvPicPr/>
          <p:nvPr/>
        </p:nvPicPr>
        <p:blipFill>
          <a:blip r:embed="rId4"/>
          <a:srcRect/>
          <a:stretch>
            <a:fillRect/>
          </a:stretch>
        </p:blipFill>
        <p:spPr>
          <a:xfrm>
            <a:off x="1341913" y="2855069"/>
            <a:ext cx="5524500" cy="1838325"/>
          </a:xfrm>
          <a:prstGeom prst="rect">
            <a:avLst/>
          </a:prstGeom>
          <a:ln/>
        </p:spPr>
      </p:pic>
    </p:spTree>
    <p:extLst>
      <p:ext uri="{BB962C8B-B14F-4D97-AF65-F5344CB8AC3E}">
        <p14:creationId xmlns:p14="http://schemas.microsoft.com/office/powerpoint/2010/main" val="16277076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5076E4-7081-D38A-7821-7C0C7C8FF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Marcador de contenido 3">
            <a:extLst>
              <a:ext uri="{FF2B5EF4-FFF2-40B4-BE49-F238E27FC236}">
                <a16:creationId xmlns:a16="http://schemas.microsoft.com/office/drawing/2014/main" id="{F5207CC2-4F0F-5662-00E6-9995FD8AA9B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201128" cy="6863135"/>
          </a:xfrm>
        </p:spPr>
      </p:pic>
      <p:sp>
        <p:nvSpPr>
          <p:cNvPr id="31" name="Rectángulo 30">
            <a:extLst>
              <a:ext uri="{FF2B5EF4-FFF2-40B4-BE49-F238E27FC236}">
                <a16:creationId xmlns:a16="http://schemas.microsoft.com/office/drawing/2014/main" id="{3568D1F6-F3CF-BFCC-6ABE-E614EA32DEF4}"/>
              </a:ext>
            </a:extLst>
          </p:cNvPr>
          <p:cNvSpPr/>
          <p:nvPr/>
        </p:nvSpPr>
        <p:spPr>
          <a:xfrm>
            <a:off x="1341913" y="583285"/>
            <a:ext cx="7160820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s-CO" sz="3000" b="1" dirty="0">
                <a:solidFill>
                  <a:schemeClr val="bg1"/>
                </a:solidFill>
                <a:latin typeface="Arial" charset="0"/>
                <a:cs typeface="Arial" charset="0"/>
              </a:rPr>
              <a:t>Modelo Nuevo/Combinado </a:t>
            </a:r>
            <a:endParaRPr lang="es-ES_tradnl" sz="3000" b="1" dirty="0">
              <a:solidFill>
                <a:schemeClr val="bg1"/>
              </a:solidFill>
              <a:latin typeface="Arial" charset="0"/>
              <a:cs typeface="Arial" charset="0"/>
            </a:endParaRPr>
          </a:p>
        </p:txBody>
      </p:sp>
      <p:graphicFrame>
        <p:nvGraphicFramePr>
          <p:cNvPr id="3" name="Tabla 2">
            <a:extLst>
              <a:ext uri="{FF2B5EF4-FFF2-40B4-BE49-F238E27FC236}">
                <a16:creationId xmlns:a16="http://schemas.microsoft.com/office/drawing/2014/main" id="{DE27FA55-E807-20EA-E10E-ADCC3EAAD3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2214499"/>
              </p:ext>
            </p:extLst>
          </p:nvPr>
        </p:nvGraphicFramePr>
        <p:xfrm>
          <a:off x="576943" y="2321637"/>
          <a:ext cx="11038113" cy="3672840"/>
        </p:xfrm>
        <a:graphic>
          <a:graphicData uri="http://schemas.openxmlformats.org/drawingml/2006/table">
            <a:tbl>
              <a:tblPr>
                <a:tableStyleId>{8EC20E35-A176-4012-BC5E-935CFFF8708E}</a:tableStyleId>
              </a:tblPr>
              <a:tblGrid>
                <a:gridCol w="3014816">
                  <a:extLst>
                    <a:ext uri="{9D8B030D-6E8A-4147-A177-3AD203B41FA5}">
                      <a16:colId xmlns:a16="http://schemas.microsoft.com/office/drawing/2014/main" val="3438557522"/>
                    </a:ext>
                  </a:extLst>
                </a:gridCol>
                <a:gridCol w="2528554">
                  <a:extLst>
                    <a:ext uri="{9D8B030D-6E8A-4147-A177-3AD203B41FA5}">
                      <a16:colId xmlns:a16="http://schemas.microsoft.com/office/drawing/2014/main" val="1120863174"/>
                    </a:ext>
                  </a:extLst>
                </a:gridCol>
                <a:gridCol w="2528554">
                  <a:extLst>
                    <a:ext uri="{9D8B030D-6E8A-4147-A177-3AD203B41FA5}">
                      <a16:colId xmlns:a16="http://schemas.microsoft.com/office/drawing/2014/main" val="1923506569"/>
                    </a:ext>
                  </a:extLst>
                </a:gridCol>
                <a:gridCol w="2966189">
                  <a:extLst>
                    <a:ext uri="{9D8B030D-6E8A-4147-A177-3AD203B41FA5}">
                      <a16:colId xmlns:a16="http://schemas.microsoft.com/office/drawing/2014/main" val="2969431967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O" sz="1000" u="none" strike="noStrike" dirty="0" err="1">
                          <a:effectLst/>
                        </a:rPr>
                        <a:t>Hiperparámetro</a:t>
                      </a:r>
                      <a:endParaRPr lang="es-CO" sz="1000" b="1" i="0" u="none" strike="noStrike" dirty="0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O" sz="1000" u="none" strike="noStrike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BiLSTM</a:t>
                      </a:r>
                      <a:r>
                        <a:rPr lang="es-CO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+ Atención de </a:t>
                      </a:r>
                      <a:r>
                        <a:rPr lang="es-CO" sz="1000" u="none" strike="noStrike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Bahdanau</a:t>
                      </a:r>
                      <a:endParaRPr lang="es-CO" sz="1000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O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GRU + Atención de </a:t>
                      </a:r>
                      <a:r>
                        <a:rPr lang="es-CO" sz="1000" u="none" strike="noStrike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Bahdanau</a:t>
                      </a:r>
                      <a:endParaRPr lang="es-CO" sz="1000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u="none" strike="noStrike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BiLSTM</a:t>
                      </a:r>
                      <a:r>
                        <a:rPr lang="en-US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+ Multi-Head Attention </a:t>
                      </a:r>
                      <a:endParaRPr lang="es-CO" sz="1000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2654000913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CO" sz="1000" u="none" strike="noStrike" dirty="0">
                          <a:effectLst/>
                        </a:rPr>
                        <a:t>Celda recurrente</a:t>
                      </a:r>
                      <a:endParaRPr lang="es-CO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858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O" sz="1000" u="none" strike="noStrike">
                          <a:effectLst/>
                        </a:rPr>
                        <a:t>BiLSTM (2 capas)</a:t>
                      </a:r>
                      <a:endParaRPr lang="es-CO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O" sz="1000" u="none" strike="noStrike" dirty="0">
                          <a:effectLst/>
                        </a:rPr>
                        <a:t>GRU (2 capas)</a:t>
                      </a:r>
                      <a:endParaRPr lang="es-CO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O" sz="1000" u="none" strike="noStrike">
                          <a:effectLst/>
                        </a:rPr>
                        <a:t>BiLSTM (2 capas)</a:t>
                      </a:r>
                      <a:endParaRPr lang="es-CO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603417169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CO" sz="1000" u="none" strike="noStrike">
                          <a:effectLst/>
                        </a:rPr>
                        <a:t>Hidden size</a:t>
                      </a:r>
                      <a:endParaRPr lang="es-CO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858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O" sz="1000" u="none" strike="noStrike">
                          <a:effectLst/>
                        </a:rPr>
                        <a:t>256 por dirección</a:t>
                      </a:r>
                      <a:endParaRPr lang="es-CO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O" sz="1000" u="none" strike="noStrike" dirty="0">
                          <a:effectLst/>
                        </a:rPr>
                        <a:t>256 por dirección</a:t>
                      </a:r>
                      <a:endParaRPr lang="es-CO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O" sz="1000" u="none" strike="noStrike">
                          <a:effectLst/>
                        </a:rPr>
                        <a:t>256 por dirección</a:t>
                      </a:r>
                      <a:endParaRPr lang="es-CO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1116908545"/>
                  </a:ext>
                </a:extLst>
              </a:tr>
              <a:tr h="51054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CO" sz="1000" u="none" strike="noStrike">
                          <a:effectLst/>
                        </a:rPr>
                        <a:t>Mecanismo atención</a:t>
                      </a:r>
                      <a:endParaRPr lang="es-CO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858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O" sz="1000" u="none" strike="noStrike">
                          <a:effectLst/>
                        </a:rPr>
                        <a:t>Bahdanau (aditiva)</a:t>
                      </a:r>
                      <a:endParaRPr lang="es-CO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O" sz="1000" u="none" strike="noStrike">
                          <a:effectLst/>
                        </a:rPr>
                        <a:t>Bahdanau (aditiva)</a:t>
                      </a:r>
                      <a:endParaRPr lang="es-CO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O" sz="1000" u="none" strike="noStrike">
                          <a:effectLst/>
                        </a:rPr>
                        <a:t>Multi-Head Attention (4 cabezas)</a:t>
                      </a:r>
                      <a:endParaRPr lang="es-CO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61423672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CO" sz="1000" u="none" strike="noStrike">
                          <a:effectLst/>
                        </a:rPr>
                        <a:t>Dropout</a:t>
                      </a:r>
                      <a:endParaRPr lang="es-CO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858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O" sz="1000" u="none" strike="noStrike">
                          <a:effectLst/>
                        </a:rPr>
                        <a:t>0.3</a:t>
                      </a:r>
                      <a:endParaRPr lang="es-CO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O" sz="1000" u="none" strike="noStrike">
                          <a:effectLst/>
                        </a:rPr>
                        <a:t>0.3</a:t>
                      </a:r>
                      <a:endParaRPr lang="es-CO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O" sz="1000" u="none" strike="noStrike">
                          <a:effectLst/>
                        </a:rPr>
                        <a:t>0.4</a:t>
                      </a:r>
                      <a:endParaRPr lang="es-CO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3676009048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CO" sz="1000" u="none" strike="noStrike">
                          <a:effectLst/>
                        </a:rPr>
                        <a:t>Class weights</a:t>
                      </a:r>
                      <a:endParaRPr lang="es-CO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858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O" sz="1000" u="none" strike="noStrike">
                          <a:effectLst/>
                        </a:rPr>
                        <a:t>Sí (balanced)</a:t>
                      </a:r>
                      <a:endParaRPr lang="es-CO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O" sz="1000" u="none" strike="noStrike">
                          <a:effectLst/>
                        </a:rPr>
                        <a:t>Sí (balanced)</a:t>
                      </a:r>
                      <a:endParaRPr lang="es-CO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O" sz="1000" u="none" strike="noStrike">
                          <a:effectLst/>
                        </a:rPr>
                        <a:t>Sí (balanced)</a:t>
                      </a:r>
                      <a:endParaRPr lang="es-CO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1505536957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CO" sz="1000" u="none" strike="noStrike">
                          <a:effectLst/>
                        </a:rPr>
                        <a:t>Épocas ejecutadas</a:t>
                      </a:r>
                      <a:endParaRPr lang="es-CO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858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O" sz="1000" u="none" strike="noStrike">
                          <a:effectLst/>
                        </a:rPr>
                        <a:t>9</a:t>
                      </a:r>
                      <a:endParaRPr lang="es-CO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O" sz="1000" u="none" strike="noStrike">
                          <a:effectLst/>
                        </a:rPr>
                        <a:t>9</a:t>
                      </a:r>
                      <a:endParaRPr lang="es-CO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O" sz="1000" u="none" strike="noStrike">
                          <a:effectLst/>
                        </a:rPr>
                        <a:t>16</a:t>
                      </a:r>
                      <a:endParaRPr lang="es-CO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228176138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CO" sz="1000" u="none" strike="noStrike">
                          <a:effectLst/>
                        </a:rPr>
                        <a:t>Mejor época</a:t>
                      </a:r>
                      <a:endParaRPr lang="es-CO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858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O" sz="1000" u="none" strike="noStrike">
                          <a:effectLst/>
                        </a:rPr>
                        <a:t>4</a:t>
                      </a:r>
                      <a:endParaRPr lang="es-CO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O" sz="1000" u="none" strike="noStrike">
                          <a:effectLst/>
                        </a:rPr>
                        <a:t>4</a:t>
                      </a:r>
                      <a:endParaRPr lang="es-CO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O" sz="1000" u="none" strike="noStrike">
                          <a:effectLst/>
                        </a:rPr>
                        <a:t>11</a:t>
                      </a:r>
                      <a:endParaRPr lang="es-CO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95790927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CO" sz="1000" u="none" strike="noStrike">
                          <a:effectLst/>
                        </a:rPr>
                        <a:t>Tiempo</a:t>
                      </a:r>
                      <a:endParaRPr lang="es-CO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858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O" sz="1000" u="none" strike="noStrike">
                          <a:effectLst/>
                        </a:rPr>
                        <a:t>129.3 s (GPU)</a:t>
                      </a:r>
                      <a:endParaRPr lang="es-CO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O" sz="1000" u="none" strike="noStrike">
                          <a:effectLst/>
                        </a:rPr>
                        <a:t>119.4 s (GPU)</a:t>
                      </a:r>
                      <a:endParaRPr lang="es-CO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O" sz="1000" u="none" strike="noStrike">
                          <a:effectLst/>
                        </a:rPr>
                        <a:t>303.8 s (GPU)</a:t>
                      </a:r>
                      <a:endParaRPr lang="es-CO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82693294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CO" sz="1000" u="none" strike="noStrike">
                          <a:effectLst/>
                        </a:rPr>
                        <a:t>Parámetros</a:t>
                      </a:r>
                      <a:endParaRPr lang="es-CO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858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O" sz="1000" u="none" strike="noStrike">
                          <a:effectLst/>
                        </a:rPr>
                        <a:t>5,191,685</a:t>
                      </a:r>
                      <a:endParaRPr lang="es-CO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O" sz="1000" u="none" strike="noStrike">
                          <a:effectLst/>
                        </a:rPr>
                        <a:t>4,599,813</a:t>
                      </a:r>
                      <a:endParaRPr lang="es-CO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O" sz="1000" u="none" strike="noStrike">
                          <a:effectLst/>
                        </a:rPr>
                        <a:t>6,110,981</a:t>
                      </a:r>
                      <a:endParaRPr lang="es-CO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409986796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CO" sz="1000" u="none" strike="noStrike">
                          <a:effectLst/>
                        </a:rPr>
                        <a:t>F1 macro</a:t>
                      </a:r>
                      <a:endParaRPr lang="es-CO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858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O" sz="1000" u="none" strike="noStrike">
                          <a:effectLst/>
                        </a:rPr>
                        <a:t>0.5740</a:t>
                      </a:r>
                      <a:endParaRPr lang="es-CO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O" sz="1000" u="none" strike="noStrike">
                          <a:effectLst/>
                        </a:rPr>
                        <a:t>0.5785</a:t>
                      </a:r>
                      <a:endParaRPr lang="es-CO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O" sz="1000" u="none" strike="noStrike">
                          <a:effectLst/>
                        </a:rPr>
                        <a:t>0.6193 </a:t>
                      </a:r>
                      <a:endParaRPr lang="es-CO" sz="1000" b="0" i="0" u="none" strike="noStrike">
                        <a:solidFill>
                          <a:srgbClr val="000000"/>
                        </a:solidFill>
                        <a:effectLst/>
                        <a:latin typeface="Arial Unicode MS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25295384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CO" sz="1000" u="none" strike="noStrike">
                          <a:effectLst/>
                        </a:rPr>
                        <a:t>Accuracy</a:t>
                      </a:r>
                      <a:endParaRPr lang="es-CO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858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O" sz="1000" u="none" strike="noStrike">
                          <a:effectLst/>
                        </a:rPr>
                        <a:t>0.6471</a:t>
                      </a:r>
                      <a:endParaRPr lang="es-CO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O" sz="1000" u="none" strike="noStrike">
                          <a:effectLst/>
                        </a:rPr>
                        <a:t>0.6416</a:t>
                      </a:r>
                      <a:endParaRPr lang="es-CO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CO" sz="1000" u="none" strike="noStrike" dirty="0">
                          <a:effectLst/>
                        </a:rPr>
                        <a:t>0.6548</a:t>
                      </a:r>
                      <a:endParaRPr lang="es-CO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25482672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419464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89249A-CF55-4C4B-9C09-3784215310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Marcador de contenido 3">
            <a:extLst>
              <a:ext uri="{FF2B5EF4-FFF2-40B4-BE49-F238E27FC236}">
                <a16:creationId xmlns:a16="http://schemas.microsoft.com/office/drawing/2014/main" id="{E5DEA41B-7B91-3ABC-5F9E-438AA028181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201128" cy="6863135"/>
          </a:xfrm>
        </p:spPr>
      </p:pic>
      <p:sp>
        <p:nvSpPr>
          <p:cNvPr id="31" name="Rectángulo 30">
            <a:extLst>
              <a:ext uri="{FF2B5EF4-FFF2-40B4-BE49-F238E27FC236}">
                <a16:creationId xmlns:a16="http://schemas.microsoft.com/office/drawing/2014/main" id="{3EF4E080-9973-A691-5174-1D57098A6266}"/>
              </a:ext>
            </a:extLst>
          </p:cNvPr>
          <p:cNvSpPr/>
          <p:nvPr/>
        </p:nvSpPr>
        <p:spPr>
          <a:xfrm>
            <a:off x="1341913" y="583285"/>
            <a:ext cx="7160820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ctr">
              <a:buNone/>
            </a:pPr>
            <a:r>
              <a:rPr lang="en-US" sz="3000" b="1" dirty="0" err="1">
                <a:solidFill>
                  <a:schemeClr val="bg1"/>
                </a:solidFill>
                <a:latin typeface="Arial" charset="0"/>
                <a:cs typeface="Arial" charset="0"/>
              </a:rPr>
              <a:t>BiLSTM</a:t>
            </a:r>
            <a:r>
              <a:rPr lang="en-US" sz="3000" b="1" dirty="0">
                <a:solidFill>
                  <a:schemeClr val="bg1"/>
                </a:solidFill>
                <a:latin typeface="Arial" charset="0"/>
                <a:cs typeface="Arial" charset="0"/>
              </a:rPr>
              <a:t> + Multi-Head Attention </a:t>
            </a:r>
            <a:endParaRPr lang="es-CO" sz="3000" b="1" dirty="0">
              <a:solidFill>
                <a:schemeClr val="bg1"/>
              </a:solidFill>
              <a:latin typeface="Arial" charset="0"/>
              <a:cs typeface="Arial" charset="0"/>
            </a:endParaRPr>
          </a:p>
        </p:txBody>
      </p:sp>
      <p:pic>
        <p:nvPicPr>
          <p:cNvPr id="2" name="image12.png" descr="Figura 21. Curvas BiLSTM+MultiHead. Más épocas de entrenamiento (mejor en época 11). El scheduler reduce LR y permite continuar mejorando.">
            <a:extLst>
              <a:ext uri="{FF2B5EF4-FFF2-40B4-BE49-F238E27FC236}">
                <a16:creationId xmlns:a16="http://schemas.microsoft.com/office/drawing/2014/main" id="{57BFA56A-B98B-E7E2-52AD-E0BAC52D8D40}"/>
              </a:ext>
            </a:extLst>
          </p:cNvPr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497243" y="2801177"/>
            <a:ext cx="6538038" cy="2398064"/>
          </a:xfrm>
          <a:prstGeom prst="rect">
            <a:avLst/>
          </a:prstGeom>
          <a:ln/>
        </p:spPr>
      </p:pic>
      <p:pic>
        <p:nvPicPr>
          <p:cNvPr id="5" name="image2.png" descr="Figura 22. Matriz de confusión BiLSTM+MultiHead. MEJOR modelo del proyecto: F1 macro=0.6193. Clase 2★: 101 correctas (mejor de todos los modelos).">
            <a:extLst>
              <a:ext uri="{FF2B5EF4-FFF2-40B4-BE49-F238E27FC236}">
                <a16:creationId xmlns:a16="http://schemas.microsoft.com/office/drawing/2014/main" id="{12168F98-6A6C-4144-91DF-4428A4A2BEA0}"/>
              </a:ext>
            </a:extLst>
          </p:cNvPr>
          <p:cNvPicPr/>
          <p:nvPr/>
        </p:nvPicPr>
        <p:blipFill>
          <a:blip r:embed="rId4"/>
          <a:srcRect/>
          <a:stretch>
            <a:fillRect/>
          </a:stretch>
        </p:blipFill>
        <p:spPr>
          <a:xfrm>
            <a:off x="7582077" y="2197252"/>
            <a:ext cx="4072255" cy="3665220"/>
          </a:xfrm>
          <a:prstGeom prst="rect">
            <a:avLst/>
          </a:prstGeom>
          <a:ln/>
        </p:spPr>
      </p:pic>
    </p:spTree>
    <p:extLst>
      <p:ext uri="{BB962C8B-B14F-4D97-AF65-F5344CB8AC3E}">
        <p14:creationId xmlns:p14="http://schemas.microsoft.com/office/powerpoint/2010/main" val="39479207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CACC30-1494-919C-4ED3-7ADEB79FFF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Marcador de contenido 3">
            <a:extLst>
              <a:ext uri="{FF2B5EF4-FFF2-40B4-BE49-F238E27FC236}">
                <a16:creationId xmlns:a16="http://schemas.microsoft.com/office/drawing/2014/main" id="{1B42D9C6-AFDF-E99B-B286-014B30E117E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201128" cy="6863135"/>
          </a:xfrm>
        </p:spPr>
      </p:pic>
      <p:sp>
        <p:nvSpPr>
          <p:cNvPr id="31" name="Rectángulo 30">
            <a:extLst>
              <a:ext uri="{FF2B5EF4-FFF2-40B4-BE49-F238E27FC236}">
                <a16:creationId xmlns:a16="http://schemas.microsoft.com/office/drawing/2014/main" id="{911D300B-A941-1237-F0C6-984B4235EA5D}"/>
              </a:ext>
            </a:extLst>
          </p:cNvPr>
          <p:cNvSpPr/>
          <p:nvPr/>
        </p:nvSpPr>
        <p:spPr>
          <a:xfrm>
            <a:off x="1341913" y="583285"/>
            <a:ext cx="7160820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s-CO" sz="3000" b="1" dirty="0">
                <a:solidFill>
                  <a:schemeClr val="bg1"/>
                </a:solidFill>
                <a:latin typeface="Arial" charset="0"/>
                <a:cs typeface="Arial" charset="0"/>
              </a:rPr>
              <a:t>Resultados</a:t>
            </a:r>
            <a:endParaRPr lang="es-ES_tradnl" sz="3000" b="1" dirty="0">
              <a:solidFill>
                <a:schemeClr val="bg1"/>
              </a:solidFill>
              <a:latin typeface="Arial" charset="0"/>
              <a:cs typeface="Arial" charset="0"/>
            </a:endParaRPr>
          </a:p>
        </p:txBody>
      </p:sp>
      <p:graphicFrame>
        <p:nvGraphicFramePr>
          <p:cNvPr id="3" name="Tabla 2">
            <a:extLst>
              <a:ext uri="{FF2B5EF4-FFF2-40B4-BE49-F238E27FC236}">
                <a16:creationId xmlns:a16="http://schemas.microsoft.com/office/drawing/2014/main" id="{377F21D5-25FF-B8B5-B031-CCA3D1A00A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6174128"/>
              </p:ext>
            </p:extLst>
          </p:nvPr>
        </p:nvGraphicFramePr>
        <p:xfrm>
          <a:off x="478971" y="1905000"/>
          <a:ext cx="11234057" cy="1524000"/>
        </p:xfrm>
        <a:graphic>
          <a:graphicData uri="http://schemas.openxmlformats.org/drawingml/2006/table">
            <a:tbl>
              <a:tblPr>
                <a:tableStyleId>{8EC20E35-A176-4012-BC5E-935CFFF8708E}</a:tableStyleId>
              </a:tblPr>
              <a:tblGrid>
                <a:gridCol w="481616">
                  <a:extLst>
                    <a:ext uri="{9D8B030D-6E8A-4147-A177-3AD203B41FA5}">
                      <a16:colId xmlns:a16="http://schemas.microsoft.com/office/drawing/2014/main" val="697720010"/>
                    </a:ext>
                  </a:extLst>
                </a:gridCol>
                <a:gridCol w="2412904">
                  <a:extLst>
                    <a:ext uri="{9D8B030D-6E8A-4147-A177-3AD203B41FA5}">
                      <a16:colId xmlns:a16="http://schemas.microsoft.com/office/drawing/2014/main" val="568812250"/>
                    </a:ext>
                  </a:extLst>
                </a:gridCol>
                <a:gridCol w="1319310">
                  <a:extLst>
                    <a:ext uri="{9D8B030D-6E8A-4147-A177-3AD203B41FA5}">
                      <a16:colId xmlns:a16="http://schemas.microsoft.com/office/drawing/2014/main" val="3031935264"/>
                    </a:ext>
                  </a:extLst>
                </a:gridCol>
                <a:gridCol w="1377248">
                  <a:extLst>
                    <a:ext uri="{9D8B030D-6E8A-4147-A177-3AD203B41FA5}">
                      <a16:colId xmlns:a16="http://schemas.microsoft.com/office/drawing/2014/main" val="2838002772"/>
                    </a:ext>
                  </a:extLst>
                </a:gridCol>
                <a:gridCol w="1319310">
                  <a:extLst>
                    <a:ext uri="{9D8B030D-6E8A-4147-A177-3AD203B41FA5}">
                      <a16:colId xmlns:a16="http://schemas.microsoft.com/office/drawing/2014/main" val="3837687401"/>
                    </a:ext>
                  </a:extLst>
                </a:gridCol>
                <a:gridCol w="1319310">
                  <a:extLst>
                    <a:ext uri="{9D8B030D-6E8A-4147-A177-3AD203B41FA5}">
                      <a16:colId xmlns:a16="http://schemas.microsoft.com/office/drawing/2014/main" val="4141986727"/>
                    </a:ext>
                  </a:extLst>
                </a:gridCol>
                <a:gridCol w="1798512">
                  <a:extLst>
                    <a:ext uri="{9D8B030D-6E8A-4147-A177-3AD203B41FA5}">
                      <a16:colId xmlns:a16="http://schemas.microsoft.com/office/drawing/2014/main" val="2481374002"/>
                    </a:ext>
                  </a:extLst>
                </a:gridCol>
                <a:gridCol w="1205847">
                  <a:extLst>
                    <a:ext uri="{9D8B030D-6E8A-4147-A177-3AD203B41FA5}">
                      <a16:colId xmlns:a16="http://schemas.microsoft.com/office/drawing/2014/main" val="95747028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#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Modelo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 dirty="0">
                          <a:effectLst/>
                        </a:rPr>
                        <a:t>F1 macro</a:t>
                      </a:r>
                      <a:endParaRPr lang="es-CO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Accuracy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Prec M.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Recall M.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Params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Tiempo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extLst>
                  <a:ext uri="{0D108BD9-81ED-4DB2-BD59-A6C34878D82A}">
                    <a16:rowId xmlns:a16="http://schemas.microsoft.com/office/drawing/2014/main" val="27400062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000">
                          <a:effectLst/>
                        </a:rPr>
                        <a:t>1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BiLSTM+MultiHead ✓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0.6193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0.6548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0.6086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0.6454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6,110,981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303.8s GPU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7594535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000">
                          <a:effectLst/>
                        </a:rPr>
                        <a:t>2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GRU+Bahdanau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0.5785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0.6416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0.5757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0.6024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4,599,813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119.4s GPU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23586367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000">
                          <a:effectLst/>
                        </a:rPr>
                        <a:t>3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BiLSTM+Bahdanau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0.5740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0.6471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0.5836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0.5842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5,191,685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129.3s GPU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33048393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000">
                          <a:effectLst/>
                        </a:rPr>
                        <a:t>4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BiLSTM v2 ✓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0.5989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0.6453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0.5870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0.6251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3,253,253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1,792s CPU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30821926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000">
                          <a:effectLst/>
                        </a:rPr>
                        <a:t>5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LSTM v3 ✓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 dirty="0">
                          <a:effectLst/>
                        </a:rPr>
                        <a:t>0.3996</a:t>
                      </a:r>
                      <a:endParaRPr lang="es-CO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0.6042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0.5639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0.4408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2,700,933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 dirty="0">
                          <a:effectLst/>
                        </a:rPr>
                        <a:t>321.2s CPU</a:t>
                      </a:r>
                      <a:endParaRPr lang="es-CO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2677909664"/>
                  </a:ext>
                </a:extLst>
              </a:tr>
            </a:tbl>
          </a:graphicData>
        </a:graphic>
      </p:graphicFrame>
      <p:graphicFrame>
        <p:nvGraphicFramePr>
          <p:cNvPr id="5" name="Tabla 4">
            <a:extLst>
              <a:ext uri="{FF2B5EF4-FFF2-40B4-BE49-F238E27FC236}">
                <a16:creationId xmlns:a16="http://schemas.microsoft.com/office/drawing/2014/main" id="{A928700B-8A9D-0DF0-98B2-9551BD189E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154749"/>
              </p:ext>
            </p:extLst>
          </p:nvPr>
        </p:nvGraphicFramePr>
        <p:xfrm>
          <a:off x="478971" y="4249447"/>
          <a:ext cx="11234058" cy="1793240"/>
        </p:xfrm>
        <a:graphic>
          <a:graphicData uri="http://schemas.openxmlformats.org/drawingml/2006/table">
            <a:tbl>
              <a:tblPr>
                <a:tableStyleId>{8EC20E35-A176-4012-BC5E-935CFFF8708E}</a:tableStyleId>
              </a:tblPr>
              <a:tblGrid>
                <a:gridCol w="907731">
                  <a:extLst>
                    <a:ext uri="{9D8B030D-6E8A-4147-A177-3AD203B41FA5}">
                      <a16:colId xmlns:a16="http://schemas.microsoft.com/office/drawing/2014/main" val="1221270368"/>
                    </a:ext>
                  </a:extLst>
                </a:gridCol>
                <a:gridCol w="1259566">
                  <a:extLst>
                    <a:ext uri="{9D8B030D-6E8A-4147-A177-3AD203B41FA5}">
                      <a16:colId xmlns:a16="http://schemas.microsoft.com/office/drawing/2014/main" val="2925666251"/>
                    </a:ext>
                  </a:extLst>
                </a:gridCol>
                <a:gridCol w="999208">
                  <a:extLst>
                    <a:ext uri="{9D8B030D-6E8A-4147-A177-3AD203B41FA5}">
                      <a16:colId xmlns:a16="http://schemas.microsoft.com/office/drawing/2014/main" val="2764978955"/>
                    </a:ext>
                  </a:extLst>
                </a:gridCol>
                <a:gridCol w="1155188">
                  <a:extLst>
                    <a:ext uri="{9D8B030D-6E8A-4147-A177-3AD203B41FA5}">
                      <a16:colId xmlns:a16="http://schemas.microsoft.com/office/drawing/2014/main" val="3132526804"/>
                    </a:ext>
                  </a:extLst>
                </a:gridCol>
                <a:gridCol w="2425308">
                  <a:extLst>
                    <a:ext uri="{9D8B030D-6E8A-4147-A177-3AD203B41FA5}">
                      <a16:colId xmlns:a16="http://schemas.microsoft.com/office/drawing/2014/main" val="2283288806"/>
                    </a:ext>
                  </a:extLst>
                </a:gridCol>
                <a:gridCol w="2074648">
                  <a:extLst>
                    <a:ext uri="{9D8B030D-6E8A-4147-A177-3AD203B41FA5}">
                      <a16:colId xmlns:a16="http://schemas.microsoft.com/office/drawing/2014/main" val="1210676531"/>
                    </a:ext>
                  </a:extLst>
                </a:gridCol>
                <a:gridCol w="2412409">
                  <a:extLst>
                    <a:ext uri="{9D8B030D-6E8A-4147-A177-3AD203B41FA5}">
                      <a16:colId xmlns:a16="http://schemas.microsoft.com/office/drawing/2014/main" val="91117501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Clase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Estrellas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LSTM v3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BiLSTM v2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BiLSTM+Bahdanau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GRU+Bahdanau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BiLSTM+MultiHead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extLst>
                  <a:ext uri="{0D108BD9-81ED-4DB2-BD59-A6C34878D82A}">
                    <a16:rowId xmlns:a16="http://schemas.microsoft.com/office/drawing/2014/main" val="23465557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000">
                          <a:effectLst/>
                        </a:rPr>
                        <a:t>0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1 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0.686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0.733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0.687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0.723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0.756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10855401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000">
                          <a:effectLst/>
                        </a:rPr>
                        <a:t>1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2 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0.168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0.459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0.433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0.436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0.533 ✓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40293956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000">
                          <a:effectLst/>
                        </a:rPr>
                        <a:t>2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3 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0.359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0.549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0.479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0.457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0.549 ✓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42334338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000">
                          <a:effectLst/>
                        </a:rPr>
                        <a:t>3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4 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0.022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0.484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0.478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0.492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0.480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25607859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000">
                          <a:effectLst/>
                        </a:rPr>
                        <a:t>4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5 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0.764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0.771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0.793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0.784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0.778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31963005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1100">
                          <a:effectLst/>
                        </a:rPr>
                        <a:t> 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F1 MACRO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0.3996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0.5989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0.5740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>
                          <a:effectLst/>
                        </a:rPr>
                        <a:t>0.5785</a:t>
                      </a:r>
                      <a:endParaRPr lang="es-CO" sz="11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1000" dirty="0">
                          <a:effectLst/>
                        </a:rPr>
                        <a:t>0.6193 ✓</a:t>
                      </a:r>
                      <a:endParaRPr lang="es-CO" sz="11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/>
                </a:tc>
                <a:extLst>
                  <a:ext uri="{0D108BD9-81ED-4DB2-BD59-A6C34878D82A}">
                    <a16:rowId xmlns:a16="http://schemas.microsoft.com/office/drawing/2014/main" val="3346033810"/>
                  </a:ext>
                </a:extLst>
              </a:tr>
            </a:tbl>
          </a:graphicData>
        </a:graphic>
      </p:graphicFrame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FE40CA69-CEFF-62CE-8F81-DD61F7FA20B9}"/>
              </a:ext>
            </a:extLst>
          </p:cNvPr>
          <p:cNvSpPr/>
          <p:nvPr/>
        </p:nvSpPr>
        <p:spPr>
          <a:xfrm>
            <a:off x="4159898" y="3745916"/>
            <a:ext cx="3872204" cy="284908"/>
          </a:xfrm>
          <a:prstGeom prst="roundRect">
            <a:avLst/>
          </a:prstGeom>
          <a:solidFill>
            <a:srgbClr val="002060"/>
          </a:solidFill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b="1" dirty="0"/>
              <a:t>F1-Score por Clase</a:t>
            </a: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20928403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0354C-5EE6-E7AD-0808-266303004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Marcador de contenido 3">
            <a:extLst>
              <a:ext uri="{FF2B5EF4-FFF2-40B4-BE49-F238E27FC236}">
                <a16:creationId xmlns:a16="http://schemas.microsoft.com/office/drawing/2014/main" id="{988833C6-1271-F306-5F00-DBB413CE583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201128" cy="6863135"/>
          </a:xfrm>
        </p:spPr>
      </p:pic>
      <p:sp>
        <p:nvSpPr>
          <p:cNvPr id="31" name="Rectángulo 30">
            <a:extLst>
              <a:ext uri="{FF2B5EF4-FFF2-40B4-BE49-F238E27FC236}">
                <a16:creationId xmlns:a16="http://schemas.microsoft.com/office/drawing/2014/main" id="{178BD7BE-EED2-9207-2F25-C84E1DD81775}"/>
              </a:ext>
            </a:extLst>
          </p:cNvPr>
          <p:cNvSpPr/>
          <p:nvPr/>
        </p:nvSpPr>
        <p:spPr>
          <a:xfrm>
            <a:off x="1341913" y="583285"/>
            <a:ext cx="7160820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s-MX" sz="3000" b="1" dirty="0">
                <a:solidFill>
                  <a:schemeClr val="bg1"/>
                </a:solidFill>
                <a:latin typeface="Arial" charset="0"/>
                <a:cs typeface="Arial" charset="0"/>
              </a:rPr>
              <a:t>BETO Fine-Tuning </a:t>
            </a:r>
            <a:endParaRPr lang="es-ES_tradnl" sz="3000" b="1" dirty="0">
              <a:solidFill>
                <a:schemeClr val="bg1"/>
              </a:solidFill>
              <a:latin typeface="Arial" charset="0"/>
              <a:cs typeface="Arial" charset="0"/>
            </a:endParaRPr>
          </a:p>
        </p:txBody>
      </p:sp>
      <p:sp>
        <p:nvSpPr>
          <p:cNvPr id="2" name="Rectangle 4">
            <a:extLst>
              <a:ext uri="{FF2B5EF4-FFF2-40B4-BE49-F238E27FC236}">
                <a16:creationId xmlns:a16="http://schemas.microsoft.com/office/drawing/2014/main" id="{DA85CC0A-16CC-5EAA-811C-9402D83E06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6051" y="1815516"/>
            <a:ext cx="5397296" cy="426143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 eaLnBrk="0" hangingPunct="0">
              <a:defRPr kumimoji="1" sz="2400" b="1">
                <a:solidFill>
                  <a:schemeClr val="tx1"/>
                </a:solidFill>
                <a:latin typeface="Arial Narrow" pitchFamily="34" charset="0"/>
              </a:defRPr>
            </a:lvl1pPr>
            <a:lvl2pPr marL="742950" indent="-285750" eaLnBrk="0" hangingPunct="0">
              <a:defRPr kumimoji="1" sz="2400" b="1">
                <a:solidFill>
                  <a:schemeClr val="tx1"/>
                </a:solidFill>
                <a:latin typeface="Arial Narrow" pitchFamily="34" charset="0"/>
              </a:defRPr>
            </a:lvl2pPr>
            <a:lvl3pPr marL="1143000" indent="-228600" eaLnBrk="0" hangingPunct="0">
              <a:defRPr kumimoji="1" sz="2400" b="1">
                <a:solidFill>
                  <a:schemeClr val="tx1"/>
                </a:solidFill>
                <a:latin typeface="Arial Narrow" pitchFamily="34" charset="0"/>
              </a:defRPr>
            </a:lvl3pPr>
            <a:lvl4pPr marL="1600200" indent="-228600" eaLnBrk="0" hangingPunct="0">
              <a:defRPr kumimoji="1" sz="2400" b="1">
                <a:solidFill>
                  <a:schemeClr val="tx1"/>
                </a:solidFill>
                <a:latin typeface="Arial Narrow" pitchFamily="34" charset="0"/>
              </a:defRPr>
            </a:lvl4pPr>
            <a:lvl5pPr marL="2057400" indent="-228600" eaLnBrk="0" hangingPunct="0">
              <a:defRPr kumimoji="1" sz="2400" b="1">
                <a:solidFill>
                  <a:schemeClr val="tx1"/>
                </a:solidFill>
                <a:latin typeface="Arial Narrow" pitchFamily="34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 b="1">
                <a:solidFill>
                  <a:schemeClr val="tx1"/>
                </a:solidFill>
                <a:latin typeface="Arial Narrow" pitchFamily="34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 b="1">
                <a:solidFill>
                  <a:schemeClr val="tx1"/>
                </a:solidFill>
                <a:latin typeface="Arial Narrow" pitchFamily="34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 b="1">
                <a:solidFill>
                  <a:schemeClr val="tx1"/>
                </a:solidFill>
                <a:latin typeface="Arial Narrow" pitchFamily="34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 b="1">
                <a:solidFill>
                  <a:schemeClr val="tx1"/>
                </a:solidFill>
                <a:latin typeface="Arial Narrow" pitchFamily="34" charset="0"/>
              </a:defRPr>
            </a:lvl9pPr>
          </a:lstStyle>
          <a:p>
            <a:r>
              <a:rPr lang="es-CO" sz="1600" dirty="0">
                <a:solidFill>
                  <a:srgbClr val="FFC000"/>
                </a:solidFill>
                <a:latin typeface="Arial" charset="0"/>
                <a:cs typeface="Arial" charset="0"/>
              </a:rPr>
              <a:t>Modelo y estrategia de fine-</a:t>
            </a:r>
            <a:r>
              <a:rPr lang="es-CO" sz="1600" dirty="0" err="1">
                <a:solidFill>
                  <a:srgbClr val="FFC000"/>
                </a:solidFill>
                <a:latin typeface="Arial" charset="0"/>
                <a:cs typeface="Arial" charset="0"/>
              </a:rPr>
              <a:t>tuning</a:t>
            </a:r>
            <a:endParaRPr lang="es-CO" sz="1600" dirty="0">
              <a:solidFill>
                <a:srgbClr val="FFC000"/>
              </a:solidFill>
              <a:latin typeface="Arial" charset="0"/>
              <a:cs typeface="Arial" charset="0"/>
            </a:endParaRPr>
          </a:p>
          <a:p>
            <a:r>
              <a:rPr lang="es-CO" sz="1600" b="0" dirty="0">
                <a:latin typeface="Arial" charset="0"/>
                <a:cs typeface="Arial" charset="0"/>
              </a:rPr>
              <a:t>•  Modelo base: </a:t>
            </a:r>
            <a:r>
              <a:rPr lang="es-CO" sz="1600" b="0" dirty="0" err="1">
                <a:latin typeface="Arial" charset="0"/>
                <a:cs typeface="Arial" charset="0"/>
              </a:rPr>
              <a:t>dccuchile</a:t>
            </a:r>
            <a:r>
              <a:rPr lang="es-CO" sz="1600" b="0" dirty="0">
                <a:latin typeface="Arial" charset="0"/>
                <a:cs typeface="Arial" charset="0"/>
              </a:rPr>
              <a:t>/</a:t>
            </a:r>
            <a:r>
              <a:rPr lang="es-CO" sz="1600" b="0" dirty="0" err="1">
                <a:latin typeface="Arial" charset="0"/>
                <a:cs typeface="Arial" charset="0"/>
              </a:rPr>
              <a:t>bert</a:t>
            </a:r>
            <a:r>
              <a:rPr lang="es-CO" sz="1600" b="0" dirty="0">
                <a:latin typeface="Arial" charset="0"/>
                <a:cs typeface="Arial" charset="0"/>
              </a:rPr>
              <a:t>-base-</a:t>
            </a:r>
            <a:r>
              <a:rPr lang="es-CO" sz="1600" b="0" dirty="0" err="1">
                <a:latin typeface="Arial" charset="0"/>
                <a:cs typeface="Arial" charset="0"/>
              </a:rPr>
              <a:t>spanish</a:t>
            </a:r>
            <a:r>
              <a:rPr lang="es-CO" sz="1600" b="0" dirty="0">
                <a:latin typeface="Arial" charset="0"/>
                <a:cs typeface="Arial" charset="0"/>
              </a:rPr>
              <a:t>-</a:t>
            </a:r>
            <a:r>
              <a:rPr lang="es-CO" sz="1600" b="0" dirty="0" err="1">
                <a:latin typeface="Arial" charset="0"/>
                <a:cs typeface="Arial" charset="0"/>
              </a:rPr>
              <a:t>wwm-cased</a:t>
            </a:r>
            <a:r>
              <a:rPr lang="es-CO" sz="1600" b="0" dirty="0">
                <a:latin typeface="Arial" charset="0"/>
                <a:cs typeface="Arial" charset="0"/>
              </a:rPr>
              <a:t> (BETO)</a:t>
            </a:r>
          </a:p>
          <a:p>
            <a:r>
              <a:rPr lang="es-CO" sz="1600" b="0" dirty="0">
                <a:latin typeface="Arial" charset="0"/>
                <a:cs typeface="Arial" charset="0"/>
              </a:rPr>
              <a:t>•  Estrategia </a:t>
            </a:r>
            <a:r>
              <a:rPr lang="es-CO" sz="1600" b="0" dirty="0" err="1">
                <a:latin typeface="Arial" charset="0"/>
                <a:cs typeface="Arial" charset="0"/>
              </a:rPr>
              <a:t>partial</a:t>
            </a:r>
            <a:r>
              <a:rPr lang="es-CO" sz="1600" b="0" dirty="0">
                <a:latin typeface="Arial" charset="0"/>
                <a:cs typeface="Arial" charset="0"/>
              </a:rPr>
              <a:t> fine-</a:t>
            </a:r>
            <a:r>
              <a:rPr lang="es-CO" sz="1600" b="0" dirty="0" err="1">
                <a:latin typeface="Arial" charset="0"/>
                <a:cs typeface="Arial" charset="0"/>
              </a:rPr>
              <a:t>tuning</a:t>
            </a:r>
            <a:r>
              <a:rPr lang="es-CO" sz="1600" b="0" dirty="0">
                <a:latin typeface="Arial" charset="0"/>
                <a:cs typeface="Arial" charset="0"/>
              </a:rPr>
              <a:t>: se congelaron todas las capas excepto encoder.layer.11 + </a:t>
            </a:r>
            <a:r>
              <a:rPr lang="es-CO" sz="1600" b="0" dirty="0" err="1">
                <a:latin typeface="Arial" charset="0"/>
                <a:cs typeface="Arial" charset="0"/>
              </a:rPr>
              <a:t>pooler</a:t>
            </a:r>
            <a:r>
              <a:rPr lang="es-CO" sz="1600" b="0" dirty="0">
                <a:latin typeface="Arial" charset="0"/>
                <a:cs typeface="Arial" charset="0"/>
              </a:rPr>
              <a:t> + </a:t>
            </a:r>
            <a:r>
              <a:rPr lang="es-CO" sz="1600" b="0" dirty="0" err="1">
                <a:latin typeface="Arial" charset="0"/>
                <a:cs typeface="Arial" charset="0"/>
              </a:rPr>
              <a:t>classifier</a:t>
            </a:r>
            <a:endParaRPr lang="es-CO" sz="1600" b="0" dirty="0">
              <a:latin typeface="Arial" charset="0"/>
              <a:cs typeface="Arial" charset="0"/>
            </a:endParaRPr>
          </a:p>
          <a:p>
            <a:r>
              <a:rPr lang="es-CO" sz="1600" b="0" dirty="0">
                <a:latin typeface="Arial" charset="0"/>
                <a:cs typeface="Arial" charset="0"/>
              </a:rPr>
              <a:t>•  Capas descongeladas: 7.0% de los parámetros totales (7,706,885 de 109,854,725)</a:t>
            </a:r>
          </a:p>
          <a:p>
            <a:r>
              <a:rPr lang="es-CO" sz="1600" b="0" dirty="0">
                <a:latin typeface="Arial" charset="0"/>
                <a:cs typeface="Arial" charset="0"/>
              </a:rPr>
              <a:t>•  Justificación: evitar </a:t>
            </a:r>
            <a:r>
              <a:rPr lang="es-CO" sz="1600" b="0" dirty="0" err="1">
                <a:latin typeface="Arial" charset="0"/>
                <a:cs typeface="Arial" charset="0"/>
              </a:rPr>
              <a:t>catastrophic</a:t>
            </a:r>
            <a:r>
              <a:rPr lang="es-CO" sz="1600" b="0" dirty="0">
                <a:latin typeface="Arial" charset="0"/>
                <a:cs typeface="Arial" charset="0"/>
              </a:rPr>
              <a:t> </a:t>
            </a:r>
            <a:r>
              <a:rPr lang="es-CO" sz="1600" b="0" dirty="0" err="1">
                <a:latin typeface="Arial" charset="0"/>
                <a:cs typeface="Arial" charset="0"/>
              </a:rPr>
              <a:t>forgetting</a:t>
            </a:r>
            <a:r>
              <a:rPr lang="es-CO" sz="1600" b="0" dirty="0">
                <a:latin typeface="Arial" charset="0"/>
                <a:cs typeface="Arial" charset="0"/>
              </a:rPr>
              <a:t> con </a:t>
            </a:r>
            <a:r>
              <a:rPr lang="es-CO" sz="1600" b="0" dirty="0" err="1">
                <a:latin typeface="Arial" charset="0"/>
                <a:cs typeface="Arial" charset="0"/>
              </a:rPr>
              <a:t>dataset</a:t>
            </a:r>
            <a:r>
              <a:rPr lang="es-CO" sz="1600" b="0" dirty="0">
                <a:latin typeface="Arial" charset="0"/>
                <a:cs typeface="Arial" charset="0"/>
              </a:rPr>
              <a:t> de 12,720 ejemplos</a:t>
            </a:r>
            <a:br>
              <a:rPr lang="es-CO" dirty="0"/>
            </a:br>
            <a:endParaRPr lang="es-CO" b="0" dirty="0"/>
          </a:p>
          <a:p>
            <a:br>
              <a:rPr lang="es-CO" dirty="0"/>
            </a:br>
            <a:endParaRPr lang="es-CO" altLang="es-CO" b="0" dirty="0">
              <a:solidFill>
                <a:schemeClr val="accent4">
                  <a:lumMod val="7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aphicFrame>
        <p:nvGraphicFramePr>
          <p:cNvPr id="7" name="Tabla 6">
            <a:extLst>
              <a:ext uri="{FF2B5EF4-FFF2-40B4-BE49-F238E27FC236}">
                <a16:creationId xmlns:a16="http://schemas.microsoft.com/office/drawing/2014/main" id="{387F7776-2462-41AC-11C7-C3CD21A837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2192805"/>
              </p:ext>
            </p:extLst>
          </p:nvPr>
        </p:nvGraphicFramePr>
        <p:xfrm>
          <a:off x="7225443" y="1799203"/>
          <a:ext cx="4200506" cy="4009923"/>
        </p:xfrm>
        <a:graphic>
          <a:graphicData uri="http://schemas.openxmlformats.org/drawingml/2006/table">
            <a:tbl>
              <a:tblPr>
                <a:tableStyleId>{8EC20E35-A176-4012-BC5E-935CFFF8708E}</a:tableStyleId>
              </a:tblPr>
              <a:tblGrid>
                <a:gridCol w="2100253">
                  <a:extLst>
                    <a:ext uri="{9D8B030D-6E8A-4147-A177-3AD203B41FA5}">
                      <a16:colId xmlns:a16="http://schemas.microsoft.com/office/drawing/2014/main" val="431373997"/>
                    </a:ext>
                  </a:extLst>
                </a:gridCol>
                <a:gridCol w="2100253">
                  <a:extLst>
                    <a:ext uri="{9D8B030D-6E8A-4147-A177-3AD203B41FA5}">
                      <a16:colId xmlns:a16="http://schemas.microsoft.com/office/drawing/2014/main" val="3574612207"/>
                    </a:ext>
                  </a:extLst>
                </a:gridCol>
              </a:tblGrid>
              <a:tr h="3188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900">
                          <a:effectLst/>
                        </a:rPr>
                        <a:t>Hiperparámetro</a:t>
                      </a:r>
                      <a:endParaRPr lang="es-CO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900">
                          <a:effectLst/>
                        </a:rPr>
                        <a:t>Valor</a:t>
                      </a:r>
                      <a:endParaRPr lang="es-CO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extLst>
                  <a:ext uri="{0D108BD9-81ED-4DB2-BD59-A6C34878D82A}">
                    <a16:rowId xmlns:a16="http://schemas.microsoft.com/office/drawing/2014/main" val="990656746"/>
                  </a:ext>
                </a:extLst>
              </a:tr>
              <a:tr h="3188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900">
                          <a:effectLst/>
                        </a:rPr>
                        <a:t>Modelo base</a:t>
                      </a:r>
                      <a:endParaRPr lang="es-CO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>
                          <a:effectLst/>
                        </a:rPr>
                        <a:t>bert-base-spanish-wwm-cased</a:t>
                      </a:r>
                      <a:endParaRPr lang="es-CO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extLst>
                  <a:ext uri="{0D108BD9-81ED-4DB2-BD59-A6C34878D82A}">
                    <a16:rowId xmlns:a16="http://schemas.microsoft.com/office/drawing/2014/main" val="62888910"/>
                  </a:ext>
                </a:extLst>
              </a:tr>
              <a:tr h="3188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900">
                          <a:effectLst/>
                        </a:rPr>
                        <a:t>Capas descongeladas</a:t>
                      </a:r>
                      <a:endParaRPr lang="es-CO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900">
                          <a:effectLst/>
                        </a:rPr>
                        <a:t>encoder.layer.11, pooler, classifier</a:t>
                      </a:r>
                      <a:endParaRPr lang="es-CO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extLst>
                  <a:ext uri="{0D108BD9-81ED-4DB2-BD59-A6C34878D82A}">
                    <a16:rowId xmlns:a16="http://schemas.microsoft.com/office/drawing/2014/main" val="2014935410"/>
                  </a:ext>
                </a:extLst>
              </a:tr>
              <a:tr h="3188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900">
                          <a:effectLst/>
                        </a:rPr>
                        <a:t>Longitud máxima (tokens)</a:t>
                      </a:r>
                      <a:endParaRPr lang="es-CO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900">
                          <a:effectLst/>
                        </a:rPr>
                        <a:t>128</a:t>
                      </a:r>
                      <a:endParaRPr lang="es-CO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extLst>
                  <a:ext uri="{0D108BD9-81ED-4DB2-BD59-A6C34878D82A}">
                    <a16:rowId xmlns:a16="http://schemas.microsoft.com/office/drawing/2014/main" val="2827251412"/>
                  </a:ext>
                </a:extLst>
              </a:tr>
              <a:tr h="3188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900">
                          <a:effectLst/>
                        </a:rPr>
                        <a:t>Batch size</a:t>
                      </a:r>
                      <a:endParaRPr lang="es-CO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900">
                          <a:effectLst/>
                        </a:rPr>
                        <a:t>32</a:t>
                      </a:r>
                      <a:endParaRPr lang="es-CO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extLst>
                  <a:ext uri="{0D108BD9-81ED-4DB2-BD59-A6C34878D82A}">
                    <a16:rowId xmlns:a16="http://schemas.microsoft.com/office/drawing/2014/main" val="974194417"/>
                  </a:ext>
                </a:extLst>
              </a:tr>
              <a:tr h="3188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900">
                          <a:effectLst/>
                        </a:rPr>
                        <a:t>Learning rate</a:t>
                      </a:r>
                      <a:endParaRPr lang="es-CO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900">
                          <a:effectLst/>
                        </a:rPr>
                        <a:t>2 × 10⁻⁵</a:t>
                      </a:r>
                      <a:endParaRPr lang="es-CO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extLst>
                  <a:ext uri="{0D108BD9-81ED-4DB2-BD59-A6C34878D82A}">
                    <a16:rowId xmlns:a16="http://schemas.microsoft.com/office/drawing/2014/main" val="3595259895"/>
                  </a:ext>
                </a:extLst>
              </a:tr>
              <a:tr h="3188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900">
                          <a:effectLst/>
                        </a:rPr>
                        <a:t>Weight decay</a:t>
                      </a:r>
                      <a:endParaRPr lang="es-CO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900">
                          <a:effectLst/>
                        </a:rPr>
                        <a:t>0,01</a:t>
                      </a:r>
                      <a:endParaRPr lang="es-CO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extLst>
                  <a:ext uri="{0D108BD9-81ED-4DB2-BD59-A6C34878D82A}">
                    <a16:rowId xmlns:a16="http://schemas.microsoft.com/office/drawing/2014/main" val="1564967688"/>
                  </a:ext>
                </a:extLst>
              </a:tr>
              <a:tr h="3188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900">
                          <a:effectLst/>
                        </a:rPr>
                        <a:t>Épocas entrenadas</a:t>
                      </a:r>
                      <a:endParaRPr lang="es-CO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900">
                          <a:effectLst/>
                        </a:rPr>
                        <a:t>5</a:t>
                      </a:r>
                      <a:endParaRPr lang="es-CO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extLst>
                  <a:ext uri="{0D108BD9-81ED-4DB2-BD59-A6C34878D82A}">
                    <a16:rowId xmlns:a16="http://schemas.microsoft.com/office/drawing/2014/main" val="1408601610"/>
                  </a:ext>
                </a:extLst>
              </a:tr>
              <a:tr h="502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900">
                          <a:effectLst/>
                        </a:rPr>
                        <a:t>Warm-up</a:t>
                      </a:r>
                      <a:endParaRPr lang="es-CO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900">
                          <a:effectLst/>
                        </a:rPr>
                        <a:t>10 % de los pasos totales (scheduler lineal)</a:t>
                      </a:r>
                      <a:endParaRPr lang="es-CO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extLst>
                  <a:ext uri="{0D108BD9-81ED-4DB2-BD59-A6C34878D82A}">
                    <a16:rowId xmlns:a16="http://schemas.microsoft.com/office/drawing/2014/main" val="3333225201"/>
                  </a:ext>
                </a:extLst>
              </a:tr>
              <a:tr h="3188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900">
                          <a:effectLst/>
                        </a:rPr>
                        <a:t>Función de pérdida</a:t>
                      </a:r>
                      <a:endParaRPr lang="es-CO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900">
                          <a:effectLst/>
                        </a:rPr>
                        <a:t>CrossEntropyLoss con class weights</a:t>
                      </a:r>
                      <a:endParaRPr lang="es-CO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extLst>
                  <a:ext uri="{0D108BD9-81ED-4DB2-BD59-A6C34878D82A}">
                    <a16:rowId xmlns:a16="http://schemas.microsoft.com/office/drawing/2014/main" val="4242777747"/>
                  </a:ext>
                </a:extLst>
              </a:tr>
              <a:tr h="3188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900">
                          <a:effectLst/>
                        </a:rPr>
                        <a:t>Semilla aleatoria</a:t>
                      </a:r>
                      <a:endParaRPr lang="es-CO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900">
                          <a:effectLst/>
                        </a:rPr>
                        <a:t>42</a:t>
                      </a:r>
                      <a:endParaRPr lang="es-CO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extLst>
                  <a:ext uri="{0D108BD9-81ED-4DB2-BD59-A6C34878D82A}">
                    <a16:rowId xmlns:a16="http://schemas.microsoft.com/office/drawing/2014/main" val="383349036"/>
                  </a:ext>
                </a:extLst>
              </a:tr>
              <a:tr h="3188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900">
                          <a:effectLst/>
                        </a:rPr>
                        <a:t>Entorno de ejecución</a:t>
                      </a:r>
                      <a:endParaRPr lang="es-CO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900" dirty="0">
                          <a:effectLst/>
                        </a:rPr>
                        <a:t>Google </a:t>
                      </a:r>
                      <a:r>
                        <a:rPr lang="es-CO" sz="900" dirty="0" err="1">
                          <a:effectLst/>
                        </a:rPr>
                        <a:t>Colab</a:t>
                      </a:r>
                      <a:r>
                        <a:rPr lang="es-CO" sz="900" dirty="0">
                          <a:effectLst/>
                        </a:rPr>
                        <a:t>, GPU Tesla T4</a:t>
                      </a:r>
                      <a:endParaRPr lang="es-CO" sz="10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extLst>
                  <a:ext uri="{0D108BD9-81ED-4DB2-BD59-A6C34878D82A}">
                    <a16:rowId xmlns:a16="http://schemas.microsoft.com/office/drawing/2014/main" val="34063942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835929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922338-30AD-C084-2F3B-61572A067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Marcador de contenido 3">
            <a:extLst>
              <a:ext uri="{FF2B5EF4-FFF2-40B4-BE49-F238E27FC236}">
                <a16:creationId xmlns:a16="http://schemas.microsoft.com/office/drawing/2014/main" id="{00CCCDEE-D081-0C88-E02E-F046EF65553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201128" cy="6863135"/>
          </a:xfrm>
        </p:spPr>
      </p:pic>
      <p:sp>
        <p:nvSpPr>
          <p:cNvPr id="31" name="Rectángulo 30">
            <a:extLst>
              <a:ext uri="{FF2B5EF4-FFF2-40B4-BE49-F238E27FC236}">
                <a16:creationId xmlns:a16="http://schemas.microsoft.com/office/drawing/2014/main" id="{5971866D-6A3B-45C7-CC8E-D2C07010B879}"/>
              </a:ext>
            </a:extLst>
          </p:cNvPr>
          <p:cNvSpPr/>
          <p:nvPr/>
        </p:nvSpPr>
        <p:spPr>
          <a:xfrm>
            <a:off x="1341913" y="583285"/>
            <a:ext cx="7160820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s-MX" sz="3000" b="1" dirty="0">
                <a:solidFill>
                  <a:schemeClr val="bg1"/>
                </a:solidFill>
                <a:latin typeface="Arial" charset="0"/>
                <a:cs typeface="Arial" charset="0"/>
              </a:rPr>
              <a:t>BETO Fine-Tuning </a:t>
            </a:r>
            <a:endParaRPr lang="es-ES_tradnl" sz="3000" b="1" dirty="0">
              <a:solidFill>
                <a:schemeClr val="bg1"/>
              </a:solidFill>
              <a:latin typeface="Arial" charset="0"/>
              <a:cs typeface="Arial" charset="0"/>
            </a:endParaRPr>
          </a:p>
        </p:txBody>
      </p:sp>
      <p:graphicFrame>
        <p:nvGraphicFramePr>
          <p:cNvPr id="3" name="Tabla 2">
            <a:extLst>
              <a:ext uri="{FF2B5EF4-FFF2-40B4-BE49-F238E27FC236}">
                <a16:creationId xmlns:a16="http://schemas.microsoft.com/office/drawing/2014/main" id="{648F62C4-71DD-B419-3601-F6F2CEC962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1640824"/>
              </p:ext>
            </p:extLst>
          </p:nvPr>
        </p:nvGraphicFramePr>
        <p:xfrm>
          <a:off x="365526" y="1696980"/>
          <a:ext cx="5730471" cy="1366520"/>
        </p:xfrm>
        <a:graphic>
          <a:graphicData uri="http://schemas.openxmlformats.org/drawingml/2006/table">
            <a:tbl>
              <a:tblPr>
                <a:tableStyleId>{8EC20E35-A176-4012-BC5E-935CFFF8708E}</a:tableStyleId>
              </a:tblPr>
              <a:tblGrid>
                <a:gridCol w="1216895">
                  <a:extLst>
                    <a:ext uri="{9D8B030D-6E8A-4147-A177-3AD203B41FA5}">
                      <a16:colId xmlns:a16="http://schemas.microsoft.com/office/drawing/2014/main" val="4249928990"/>
                    </a:ext>
                  </a:extLst>
                </a:gridCol>
                <a:gridCol w="790982">
                  <a:extLst>
                    <a:ext uri="{9D8B030D-6E8A-4147-A177-3AD203B41FA5}">
                      <a16:colId xmlns:a16="http://schemas.microsoft.com/office/drawing/2014/main" val="1194843173"/>
                    </a:ext>
                  </a:extLst>
                </a:gridCol>
                <a:gridCol w="790982">
                  <a:extLst>
                    <a:ext uri="{9D8B030D-6E8A-4147-A177-3AD203B41FA5}">
                      <a16:colId xmlns:a16="http://schemas.microsoft.com/office/drawing/2014/main" val="791086441"/>
                    </a:ext>
                  </a:extLst>
                </a:gridCol>
                <a:gridCol w="790982">
                  <a:extLst>
                    <a:ext uri="{9D8B030D-6E8A-4147-A177-3AD203B41FA5}">
                      <a16:colId xmlns:a16="http://schemas.microsoft.com/office/drawing/2014/main" val="335879592"/>
                    </a:ext>
                  </a:extLst>
                </a:gridCol>
                <a:gridCol w="790982">
                  <a:extLst>
                    <a:ext uri="{9D8B030D-6E8A-4147-A177-3AD203B41FA5}">
                      <a16:colId xmlns:a16="http://schemas.microsoft.com/office/drawing/2014/main" val="2289014318"/>
                    </a:ext>
                  </a:extLst>
                </a:gridCol>
                <a:gridCol w="790982">
                  <a:extLst>
                    <a:ext uri="{9D8B030D-6E8A-4147-A177-3AD203B41FA5}">
                      <a16:colId xmlns:a16="http://schemas.microsoft.com/office/drawing/2014/main" val="4079454832"/>
                    </a:ext>
                  </a:extLst>
                </a:gridCol>
                <a:gridCol w="558666">
                  <a:extLst>
                    <a:ext uri="{9D8B030D-6E8A-4147-A177-3AD203B41FA5}">
                      <a16:colId xmlns:a16="http://schemas.microsoft.com/office/drawing/2014/main" val="191176003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900">
                          <a:effectLst/>
                        </a:rPr>
                        <a:t>Modelo</a:t>
                      </a:r>
                      <a:endParaRPr lang="es-CO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900">
                          <a:effectLst/>
                        </a:rPr>
                        <a:t>F1 macro</a:t>
                      </a:r>
                      <a:endParaRPr lang="es-CO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900">
                          <a:effectLst/>
                        </a:rPr>
                        <a:t>Accuracy</a:t>
                      </a:r>
                      <a:endParaRPr lang="es-CO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900">
                          <a:effectLst/>
                        </a:rPr>
                        <a:t>Precision macro</a:t>
                      </a:r>
                      <a:endParaRPr lang="es-CO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900">
                          <a:effectLst/>
                        </a:rPr>
                        <a:t>Recall macro</a:t>
                      </a:r>
                      <a:endParaRPr lang="es-CO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900">
                          <a:effectLst/>
                        </a:rPr>
                        <a:t>Parámetros</a:t>
                      </a:r>
                      <a:endParaRPr lang="es-CO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900">
                          <a:effectLst/>
                        </a:rPr>
                        <a:t>Tiempo (s)</a:t>
                      </a:r>
                      <a:endParaRPr lang="es-CO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extLst>
                  <a:ext uri="{0D108BD9-81ED-4DB2-BD59-A6C34878D82A}">
                    <a16:rowId xmlns:a16="http://schemas.microsoft.com/office/drawing/2014/main" val="42467406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900">
                          <a:effectLst/>
                        </a:rPr>
                        <a:t>LSTM (Clásico 1)</a:t>
                      </a:r>
                      <a:endParaRPr lang="es-CO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900">
                          <a:effectLst/>
                        </a:rPr>
                        <a:t>0,3996</a:t>
                      </a:r>
                      <a:endParaRPr lang="es-CO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900">
                          <a:effectLst/>
                        </a:rPr>
                        <a:t>0,6042</a:t>
                      </a:r>
                      <a:endParaRPr lang="es-CO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900">
                          <a:effectLst/>
                        </a:rPr>
                        <a:t>0,5639</a:t>
                      </a:r>
                      <a:endParaRPr lang="es-CO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900">
                          <a:effectLst/>
                        </a:rPr>
                        <a:t>0,4408</a:t>
                      </a:r>
                      <a:endParaRPr lang="es-CO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900">
                          <a:effectLst/>
                        </a:rPr>
                        <a:t>2,7 M</a:t>
                      </a:r>
                      <a:endParaRPr lang="es-CO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900">
                          <a:effectLst/>
                        </a:rPr>
                        <a:t>321</a:t>
                      </a:r>
                      <a:endParaRPr lang="es-CO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extLst>
                  <a:ext uri="{0D108BD9-81ED-4DB2-BD59-A6C34878D82A}">
                    <a16:rowId xmlns:a16="http://schemas.microsoft.com/office/drawing/2014/main" val="35426867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900">
                          <a:effectLst/>
                        </a:rPr>
                        <a:t>BiLSTM (Clásico 2)</a:t>
                      </a:r>
                      <a:endParaRPr lang="es-CO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900">
                          <a:effectLst/>
                        </a:rPr>
                        <a:t>0,5989</a:t>
                      </a:r>
                      <a:endParaRPr lang="es-CO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900">
                          <a:effectLst/>
                        </a:rPr>
                        <a:t>0,6453</a:t>
                      </a:r>
                      <a:endParaRPr lang="es-CO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900" dirty="0">
                          <a:effectLst/>
                        </a:rPr>
                        <a:t>0,6197</a:t>
                      </a:r>
                      <a:endParaRPr lang="es-CO" sz="10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900">
                          <a:effectLst/>
                        </a:rPr>
                        <a:t>0,5929</a:t>
                      </a:r>
                      <a:endParaRPr lang="es-CO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900">
                          <a:effectLst/>
                        </a:rPr>
                        <a:t>3,3 M</a:t>
                      </a:r>
                      <a:endParaRPr lang="es-CO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900">
                          <a:effectLst/>
                        </a:rPr>
                        <a:t>1.792</a:t>
                      </a:r>
                      <a:endParaRPr lang="es-CO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extLst>
                  <a:ext uri="{0D108BD9-81ED-4DB2-BD59-A6C34878D82A}">
                    <a16:rowId xmlns:a16="http://schemas.microsoft.com/office/drawing/2014/main" val="13614635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900">
                          <a:effectLst/>
                        </a:rPr>
                        <a:t>BETO fine-tuned (Avanzado)</a:t>
                      </a:r>
                      <a:endParaRPr lang="es-CO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900">
                          <a:effectLst/>
                        </a:rPr>
                        <a:t>0,5873</a:t>
                      </a:r>
                      <a:endParaRPr lang="es-CO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900">
                          <a:effectLst/>
                        </a:rPr>
                        <a:t>0,6592</a:t>
                      </a:r>
                      <a:endParaRPr lang="es-CO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900">
                          <a:effectLst/>
                        </a:rPr>
                        <a:t>0,5810</a:t>
                      </a:r>
                      <a:endParaRPr lang="es-CO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900">
                          <a:effectLst/>
                        </a:rPr>
                        <a:t>0,5983</a:t>
                      </a:r>
                      <a:endParaRPr lang="es-CO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900">
                          <a:effectLst/>
                        </a:rPr>
                        <a:t>109,9 M (7,7 M entrenables)</a:t>
                      </a:r>
                      <a:endParaRPr lang="es-CO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900" dirty="0">
                          <a:effectLst/>
                        </a:rPr>
                        <a:t>676</a:t>
                      </a:r>
                      <a:endParaRPr lang="es-CO" sz="10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extLst>
                  <a:ext uri="{0D108BD9-81ED-4DB2-BD59-A6C34878D82A}">
                    <a16:rowId xmlns:a16="http://schemas.microsoft.com/office/drawing/2014/main" val="175750639"/>
                  </a:ext>
                </a:extLst>
              </a:tr>
            </a:tbl>
          </a:graphicData>
        </a:graphic>
      </p:graphicFrame>
      <p:graphicFrame>
        <p:nvGraphicFramePr>
          <p:cNvPr id="5" name="Tabla 4">
            <a:extLst>
              <a:ext uri="{FF2B5EF4-FFF2-40B4-BE49-F238E27FC236}">
                <a16:creationId xmlns:a16="http://schemas.microsoft.com/office/drawing/2014/main" id="{4E936693-9367-584F-67C6-34ABE77CF3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9993355"/>
              </p:ext>
            </p:extLst>
          </p:nvPr>
        </p:nvGraphicFramePr>
        <p:xfrm>
          <a:off x="365524" y="3534087"/>
          <a:ext cx="5730468" cy="955040"/>
        </p:xfrm>
        <a:graphic>
          <a:graphicData uri="http://schemas.openxmlformats.org/drawingml/2006/table">
            <a:tbl>
              <a:tblPr>
                <a:tableStyleId>{8EC20E35-A176-4012-BC5E-935CFFF8708E}</a:tableStyleId>
              </a:tblPr>
              <a:tblGrid>
                <a:gridCol w="1567308">
                  <a:extLst>
                    <a:ext uri="{9D8B030D-6E8A-4147-A177-3AD203B41FA5}">
                      <a16:colId xmlns:a16="http://schemas.microsoft.com/office/drawing/2014/main" val="1344206399"/>
                    </a:ext>
                  </a:extLst>
                </a:gridCol>
                <a:gridCol w="1040790">
                  <a:extLst>
                    <a:ext uri="{9D8B030D-6E8A-4147-A177-3AD203B41FA5}">
                      <a16:colId xmlns:a16="http://schemas.microsoft.com/office/drawing/2014/main" val="2835406369"/>
                    </a:ext>
                  </a:extLst>
                </a:gridCol>
                <a:gridCol w="1040790">
                  <a:extLst>
                    <a:ext uri="{9D8B030D-6E8A-4147-A177-3AD203B41FA5}">
                      <a16:colId xmlns:a16="http://schemas.microsoft.com/office/drawing/2014/main" val="415895055"/>
                    </a:ext>
                  </a:extLst>
                </a:gridCol>
                <a:gridCol w="1040790">
                  <a:extLst>
                    <a:ext uri="{9D8B030D-6E8A-4147-A177-3AD203B41FA5}">
                      <a16:colId xmlns:a16="http://schemas.microsoft.com/office/drawing/2014/main" val="2224135727"/>
                    </a:ext>
                  </a:extLst>
                </a:gridCol>
                <a:gridCol w="1040790">
                  <a:extLst>
                    <a:ext uri="{9D8B030D-6E8A-4147-A177-3AD203B41FA5}">
                      <a16:colId xmlns:a16="http://schemas.microsoft.com/office/drawing/2014/main" val="67546022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900">
                          <a:effectLst/>
                        </a:rPr>
                        <a:t>Modelo</a:t>
                      </a:r>
                      <a:endParaRPr lang="es-CO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900">
                          <a:effectLst/>
                        </a:rPr>
                        <a:t>1★ (9,2%)</a:t>
                      </a:r>
                      <a:endParaRPr lang="es-CO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900">
                          <a:effectLst/>
                        </a:rPr>
                        <a:t>2★ (5,5%)</a:t>
                      </a:r>
                      <a:endParaRPr lang="es-CO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900">
                          <a:effectLst/>
                        </a:rPr>
                        <a:t>3★ (12,5%)</a:t>
                      </a:r>
                      <a:endParaRPr lang="es-CO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900">
                          <a:effectLst/>
                        </a:rPr>
                        <a:t>4★ (23,2%)</a:t>
                      </a:r>
                      <a:endParaRPr lang="es-CO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extLst>
                  <a:ext uri="{0D108BD9-81ED-4DB2-BD59-A6C34878D82A}">
                    <a16:rowId xmlns:a16="http://schemas.microsoft.com/office/drawing/2014/main" val="41155529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900">
                          <a:effectLst/>
                        </a:rPr>
                        <a:t>LSTM</a:t>
                      </a:r>
                      <a:endParaRPr lang="es-CO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900">
                          <a:effectLst/>
                        </a:rPr>
                        <a:t>0,686</a:t>
                      </a:r>
                      <a:endParaRPr lang="es-CO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900">
                          <a:effectLst/>
                        </a:rPr>
                        <a:t>0,168</a:t>
                      </a:r>
                      <a:endParaRPr lang="es-CO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900">
                          <a:effectLst/>
                        </a:rPr>
                        <a:t>0,359</a:t>
                      </a:r>
                      <a:endParaRPr lang="es-CO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900">
                          <a:effectLst/>
                        </a:rPr>
                        <a:t>0,022</a:t>
                      </a:r>
                      <a:endParaRPr lang="es-CO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extLst>
                  <a:ext uri="{0D108BD9-81ED-4DB2-BD59-A6C34878D82A}">
                    <a16:rowId xmlns:a16="http://schemas.microsoft.com/office/drawing/2014/main" val="35512021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900">
                          <a:effectLst/>
                        </a:rPr>
                        <a:t>BiLSTM</a:t>
                      </a:r>
                      <a:endParaRPr lang="es-CO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900">
                          <a:effectLst/>
                        </a:rPr>
                        <a:t>0,733</a:t>
                      </a:r>
                      <a:endParaRPr lang="es-CO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900">
                          <a:effectLst/>
                        </a:rPr>
                        <a:t>0,459</a:t>
                      </a:r>
                      <a:endParaRPr lang="es-CO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900">
                          <a:effectLst/>
                        </a:rPr>
                        <a:t>0,549</a:t>
                      </a:r>
                      <a:endParaRPr lang="es-CO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900" dirty="0">
                          <a:effectLst/>
                        </a:rPr>
                        <a:t>0,484</a:t>
                      </a:r>
                      <a:endParaRPr lang="es-CO" sz="10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extLst>
                  <a:ext uri="{0D108BD9-81ED-4DB2-BD59-A6C34878D82A}">
                    <a16:rowId xmlns:a16="http://schemas.microsoft.com/office/drawing/2014/main" val="25076133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O" sz="900">
                          <a:effectLst/>
                        </a:rPr>
                        <a:t>BETO fine-tuned</a:t>
                      </a:r>
                      <a:endParaRPr lang="es-CO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900">
                          <a:effectLst/>
                        </a:rPr>
                        <a:t>0,729</a:t>
                      </a:r>
                      <a:endParaRPr lang="es-CO" sz="100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900" dirty="0">
                          <a:effectLst/>
                        </a:rPr>
                        <a:t>0,386</a:t>
                      </a:r>
                      <a:endParaRPr lang="es-CO" sz="10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900" dirty="0">
                          <a:effectLst/>
                        </a:rPr>
                        <a:t>0,514</a:t>
                      </a:r>
                      <a:endParaRPr lang="es-CO" sz="10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CO" sz="900" dirty="0">
                          <a:effectLst/>
                        </a:rPr>
                        <a:t>0,514</a:t>
                      </a:r>
                      <a:endParaRPr lang="es-CO" sz="100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76200" marR="76200" marT="50800" marB="50800" anchor="ctr"/>
                </a:tc>
                <a:extLst>
                  <a:ext uri="{0D108BD9-81ED-4DB2-BD59-A6C34878D82A}">
                    <a16:rowId xmlns:a16="http://schemas.microsoft.com/office/drawing/2014/main" val="4291042426"/>
                  </a:ext>
                </a:extLst>
              </a:tr>
            </a:tbl>
          </a:graphicData>
        </a:graphic>
      </p:graphicFrame>
      <p:pic>
        <p:nvPicPr>
          <p:cNvPr id="6" name="image1.png">
            <a:extLst>
              <a:ext uri="{FF2B5EF4-FFF2-40B4-BE49-F238E27FC236}">
                <a16:creationId xmlns:a16="http://schemas.microsoft.com/office/drawing/2014/main" id="{C79DC959-6145-67BB-94B2-174174943BB1}"/>
              </a:ext>
            </a:extLst>
          </p:cNvPr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6561053" y="1646026"/>
            <a:ext cx="4634706" cy="2655223"/>
          </a:xfrm>
          <a:prstGeom prst="rect">
            <a:avLst/>
          </a:prstGeom>
          <a:ln/>
        </p:spPr>
      </p:pic>
      <p:pic>
        <p:nvPicPr>
          <p:cNvPr id="8" name="image2.png">
            <a:extLst>
              <a:ext uri="{FF2B5EF4-FFF2-40B4-BE49-F238E27FC236}">
                <a16:creationId xmlns:a16="http://schemas.microsoft.com/office/drawing/2014/main" id="{8144C125-7C46-A3D8-7CF6-C5C127A28D43}"/>
              </a:ext>
            </a:extLst>
          </p:cNvPr>
          <p:cNvPicPr/>
          <p:nvPr/>
        </p:nvPicPr>
        <p:blipFill>
          <a:blip r:embed="rId4"/>
          <a:srcRect/>
          <a:stretch>
            <a:fillRect/>
          </a:stretch>
        </p:blipFill>
        <p:spPr>
          <a:xfrm>
            <a:off x="5630949" y="4515392"/>
            <a:ext cx="6400800" cy="2133600"/>
          </a:xfrm>
          <a:prstGeom prst="rect">
            <a:avLst/>
          </a:prstGeom>
          <a:ln/>
        </p:spPr>
      </p:pic>
    </p:spTree>
    <p:extLst>
      <p:ext uri="{BB962C8B-B14F-4D97-AF65-F5344CB8AC3E}">
        <p14:creationId xmlns:p14="http://schemas.microsoft.com/office/powerpoint/2010/main" val="75103143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d6b2e044-6a54-4cb7-a441-36a5fc0f35b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FECE4137A04C74EADBDF64FAADFD87F" ma:contentTypeVersion="13" ma:contentTypeDescription="Create a new document." ma:contentTypeScope="" ma:versionID="fc13da7217d8827789899f61843b80d3">
  <xsd:schema xmlns:xsd="http://www.w3.org/2001/XMLSchema" xmlns:xs="http://www.w3.org/2001/XMLSchema" xmlns:p="http://schemas.microsoft.com/office/2006/metadata/properties" xmlns:ns3="d6b2e044-6a54-4cb7-a441-36a5fc0f35b5" xmlns:ns4="e71c23b1-50b5-4f23-b9fe-833da4dd8ba4" targetNamespace="http://schemas.microsoft.com/office/2006/metadata/properties" ma:root="true" ma:fieldsID="cfbf5e54054611de90bd5e095b4eb34c" ns3:_="" ns4:_="">
    <xsd:import namespace="d6b2e044-6a54-4cb7-a441-36a5fc0f35b5"/>
    <xsd:import namespace="e71c23b1-50b5-4f23-b9fe-833da4dd8ba4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_activity" minOccurs="0"/>
                <xsd:element ref="ns3:MediaServiceDateTaken" minOccurs="0"/>
                <xsd:element ref="ns3:MediaServiceSystemTags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4:SharedWithUsers" minOccurs="0"/>
                <xsd:element ref="ns4:SharedWithDetails" minOccurs="0"/>
                <xsd:element ref="ns4:SharingHintHash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6b2e044-6a54-4cb7-a441-36a5fc0f35b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2" nillable="true" ma:displayName="_activity" ma:hidden="true" ma:internalName="_activity">
      <xsd:simpleType>
        <xsd:restriction base="dms:Note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SystemTags" ma:index="1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71c23b1-50b5-4f23-b9fe-833da4dd8ba4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0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99D330E-5CBA-419E-8F25-A3D3F794F61E}">
  <ds:schemaRefs>
    <ds:schemaRef ds:uri="e71c23b1-50b5-4f23-b9fe-833da4dd8ba4"/>
    <ds:schemaRef ds:uri="http://purl.org/dc/elements/1.1/"/>
    <ds:schemaRef ds:uri="http://purl.org/dc/dcmitype/"/>
    <ds:schemaRef ds:uri="http://schemas.microsoft.com/office/2006/metadata/properties"/>
    <ds:schemaRef ds:uri="http://www.w3.org/XML/1998/namespace"/>
    <ds:schemaRef ds:uri="http://purl.org/dc/terms/"/>
    <ds:schemaRef ds:uri="http://schemas.openxmlformats.org/package/2006/metadata/core-properties"/>
    <ds:schemaRef ds:uri="d6b2e044-6a54-4cb7-a441-36a5fc0f35b5"/>
    <ds:schemaRef ds:uri="http://schemas.microsoft.com/office/2006/documentManagement/typ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3903E9B0-7CDF-4882-93FC-F791BEF38EC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37FEAFB6-4C42-47E3-8F84-097CD8B1750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6b2e044-6a54-4cb7-a441-36a5fc0f35b5"/>
    <ds:schemaRef ds:uri="e71c23b1-50b5-4f23-b9fe-833da4dd8ba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25990</TotalTime>
  <Words>1555</Words>
  <Application>Microsoft Office PowerPoint</Application>
  <PresentationFormat>Panorámica</PresentationFormat>
  <Paragraphs>453</Paragraphs>
  <Slides>16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1" baseType="lpstr">
      <vt:lpstr>Arial</vt:lpstr>
      <vt:lpstr>Arial Unicode MS</vt:lpstr>
      <vt:lpstr>Calibri</vt:lpstr>
      <vt:lpstr>Calibri Light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wilperiodista86@gmail.com</dc:creator>
  <cp:lastModifiedBy>Daniel Alejandro Ruiz Carrillo</cp:lastModifiedBy>
  <cp:revision>506</cp:revision>
  <dcterms:created xsi:type="dcterms:W3CDTF">2017-03-01T15:55:36Z</dcterms:created>
  <dcterms:modified xsi:type="dcterms:W3CDTF">2026-05-25T13:52:04Z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0x0101009FECE4137A04C74EADBDF64FAADFD87F</vt:lpwstr>
  </property>
</Properties>
</file>